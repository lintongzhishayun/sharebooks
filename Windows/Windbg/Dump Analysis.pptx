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Override2.xml" ContentType="application/vnd.openxmlformats-officedocument.themeOverrid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Override3.xml" ContentType="application/vnd.openxmlformats-officedocument.themeOverrid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Override4.xml" ContentType="application/vnd.openxmlformats-officedocument.themeOverrid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  <p:sldMasterId id="2147483652" r:id="rId5"/>
    <p:sldMasterId id="2147483653" r:id="rId6"/>
    <p:sldMasterId id="2147483654" r:id="rId7"/>
    <p:sldMasterId id="2147483656" r:id="rId8"/>
    <p:sldMasterId id="2147483658" r:id="rId9"/>
  </p:sldMasterIdLst>
  <p:notesMasterIdLst>
    <p:notesMasterId r:id="rId49"/>
  </p:notesMasterIdLst>
  <p:handoutMasterIdLst>
    <p:handoutMasterId r:id="rId50"/>
  </p:handoutMasterIdLst>
  <p:sldIdLst>
    <p:sldId id="266" r:id="rId10"/>
    <p:sldId id="279" r:id="rId11"/>
    <p:sldId id="306" r:id="rId12"/>
    <p:sldId id="303" r:id="rId13"/>
    <p:sldId id="307" r:id="rId14"/>
    <p:sldId id="308" r:id="rId15"/>
    <p:sldId id="309" r:id="rId16"/>
    <p:sldId id="331" r:id="rId17"/>
    <p:sldId id="296" r:id="rId18"/>
    <p:sldId id="297" r:id="rId19"/>
    <p:sldId id="298" r:id="rId20"/>
    <p:sldId id="299" r:id="rId21"/>
    <p:sldId id="302" r:id="rId22"/>
    <p:sldId id="310" r:id="rId23"/>
    <p:sldId id="311" r:id="rId24"/>
    <p:sldId id="328" r:id="rId25"/>
    <p:sldId id="300" r:id="rId26"/>
    <p:sldId id="329" r:id="rId27"/>
    <p:sldId id="332" r:id="rId28"/>
    <p:sldId id="305" r:id="rId29"/>
    <p:sldId id="304" r:id="rId30"/>
    <p:sldId id="312" r:id="rId31"/>
    <p:sldId id="313" r:id="rId32"/>
    <p:sldId id="330" r:id="rId33"/>
    <p:sldId id="314" r:id="rId34"/>
    <p:sldId id="316" r:id="rId35"/>
    <p:sldId id="315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5" r:id="rId44"/>
    <p:sldId id="326" r:id="rId45"/>
    <p:sldId id="324" r:id="rId46"/>
    <p:sldId id="327" r:id="rId47"/>
    <p:sldId id="295" r:id="rId48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05B"/>
    <a:srgbClr val="ACCAEB"/>
    <a:srgbClr val="5091CD"/>
    <a:srgbClr val="B2B2B2"/>
    <a:srgbClr val="DDDDDD"/>
    <a:srgbClr val="EAEAEA"/>
    <a:srgbClr val="2D699F"/>
    <a:srgbClr val="337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9" autoAdjust="0"/>
    <p:restoredTop sz="74533" autoAdjust="0"/>
  </p:normalViewPr>
  <p:slideViewPr>
    <p:cSldViewPr snapToGrid="0">
      <p:cViewPr varScale="1">
        <p:scale>
          <a:sx n="121" d="100"/>
          <a:sy n="121" d="100"/>
        </p:scale>
        <p:origin x="549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89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handoutMaster" Target="handoutMasters/handout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l" defTabSz="931863">
              <a:defRPr sz="1200" b="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b="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defTabSz="931863">
              <a:defRPr sz="1200" b="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 b="0" smtClean="0"/>
            </a:lvl1pPr>
          </a:lstStyle>
          <a:p>
            <a:pPr>
              <a:defRPr/>
            </a:pPr>
            <a:fld id="{C6C428AD-19EE-401A-9B66-64C1F58D13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5094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l" defTabSz="931863">
              <a:defRPr sz="1200" b="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b="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l" defTabSz="931863">
              <a:defRPr sz="1200" b="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 b="0" smtClean="0"/>
            </a:lvl1pPr>
          </a:lstStyle>
          <a:p>
            <a:pPr>
              <a:defRPr/>
            </a:pPr>
            <a:fld id="{1A9ED65D-2E59-4310-927E-4325E833CF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19303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459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EBF0044-CF6C-49A1-8A57-5388D7AB027D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8231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511CD8-9C6D-47BF-B5BC-D4276B28D2E9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AC8C9-31E4-4907-9F29-AD558B461BE7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510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AC8C9-31E4-4907-9F29-AD558B461BE7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728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152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89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634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5422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096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2967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AC8C9-31E4-4907-9F29-AD558B461BE7}" type="slidenum">
              <a:rPr lang="zh-TW" altLang="en-US" smtClean="0"/>
              <a:pPr>
                <a:defRPr/>
              </a:pPr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757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AC8C9-31E4-4907-9F29-AD558B461BE7}" type="slidenum">
              <a:rPr lang="zh-TW" altLang="en-US" smtClean="0"/>
              <a:pPr>
                <a:defRPr/>
              </a:pPr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636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59016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97814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3709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62078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8296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88431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81466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1199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38651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55180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78448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7300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67300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0262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8737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9107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53305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7443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32404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39294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150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0262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54201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9ED65D-2E59-4310-927E-4325E833CF6C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630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jpe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jpeg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Master" Target="../slideMasters/slideMaster6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4.jpeg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766" descr="title_Enterprise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9144000" cy="686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3763"/>
          <p:cNvSpPr>
            <a:spLocks noChangeShapeType="1"/>
          </p:cNvSpPr>
          <p:nvPr userDrawn="1"/>
        </p:nvSpPr>
        <p:spPr bwMode="auto">
          <a:xfrm>
            <a:off x="1066800" y="5454650"/>
            <a:ext cx="2970213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Text Box 3765"/>
          <p:cNvSpPr txBox="1">
            <a:spLocks noChangeArrowheads="1"/>
          </p:cNvSpPr>
          <p:nvPr userDrawn="1"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pic>
        <p:nvPicPr>
          <p:cNvPr id="7" name="Picture 3767" descr="trend_log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03"/>
          <a:stretch>
            <a:fillRect/>
          </a:stretch>
        </p:blipFill>
        <p:spPr bwMode="auto">
          <a:xfrm>
            <a:off x="301625" y="263525"/>
            <a:ext cx="315753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468" name="Rectangle 374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04888" y="5553075"/>
            <a:ext cx="6400800" cy="838200"/>
          </a:xfrm>
          <a:ln/>
        </p:spPr>
        <p:txBody>
          <a:bodyPr/>
          <a:lstStyle>
            <a:lvl1pPr marL="0" indent="0">
              <a:buFontTx/>
              <a:buNone/>
              <a:defRPr sz="1700"/>
            </a:lvl1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34466" name="Rectangle 3746"/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4832350"/>
            <a:ext cx="6453188" cy="511175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8" name="Rectangle 3755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FD6AF38D-5E57-406A-A28D-68DD8C42613C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9" name="Rectangle 376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4DBFE4D-C1CC-40E9-B5F4-F28B8E8118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0260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86B10AB7-D2F0-4745-8CD4-1871C4A0EE30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515B1-980D-4B26-B6C2-800CB40912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12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FF2782B1-3A62-4710-A2A9-84CCE96B3184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123AE-5181-4D62-9066-043C848B8A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609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150" y="1543050"/>
            <a:ext cx="3278188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8738" y="1543050"/>
            <a:ext cx="3278187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A0136E91-FC7C-401A-8366-168F27CAE24C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4098C-E3CC-4D8D-A767-2C5F297051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86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AF8C38EC-9824-4B57-A8BA-EE1B26E23D9E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8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EDAA6-FE0C-42B0-8826-8AD3C70CBD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711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7795CADE-B7A0-4D02-8FFD-29A94A0AE0FE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4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66E28-0B07-4F29-BFBD-3E0BF9DAD5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094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9640F931-77CE-41F4-90F2-81988FFB402D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3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01DBE3-A714-4C18-91BF-3F489F680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23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1EFE0A0B-D6D9-49BF-A774-85C8E6B41901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4290D-BF03-4D04-B879-3CA6D2B90C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445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442C47D6-C7A1-468F-A4DC-E2F3746BAA97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F196F-1FA3-471B-8541-4D24F6AC8D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71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7C6F79D1-6F86-44C7-A4FF-FFBCB260D9E2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79FA1-E93B-41AC-B227-D6DECE7AA9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68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67350" y="647700"/>
            <a:ext cx="1679575" cy="6019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8625" y="647700"/>
            <a:ext cx="4886325" cy="60198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6C118B71-17A9-431E-889D-8E6092F5CF7E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67D74-ED60-408D-A0A4-F6DF5C56F3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019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標題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625" y="647700"/>
            <a:ext cx="6718300" cy="71437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38150" y="1543050"/>
            <a:ext cx="6708775" cy="512445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  <a:endParaRPr lang="en-US" noProof="0" smtClean="0"/>
          </a:p>
        </p:txBody>
      </p:sp>
      <p:sp>
        <p:nvSpPr>
          <p:cNvPr id="4" name="Rectangle 589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AA6A0B6B-CA54-4C7D-AEA0-18618F4D5284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59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21237-04C1-45C9-85C6-BC29F619B9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88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2B3905E5-0487-4B19-98A9-A6F07DDBBE60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6E6538-E169-48CF-BE05-D5BE3DBC3A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1710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3F2D722E-C463-4316-B508-6E0139471EDC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C574F-08E8-4958-A616-DFF363EF7B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654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73B8E097-E01C-4E32-9CCF-9881A9DF94A8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6693EC-22E5-4783-BA50-2A531CA3F5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8759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4411663"/>
            <a:ext cx="4038600" cy="1714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4411663"/>
            <a:ext cx="4038600" cy="1714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ECF8EFD4-1FAC-4D4A-800C-C020A796B882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79227-21BA-4BB0-8D32-F52CE3923C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323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FB922B6A-2765-4C82-8988-93850BE48BC9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8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878A0-AB84-44BC-AE0A-EC3E1A02E7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0808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0E8C62EC-D36F-482D-A374-491823F3D744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4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96BBD-1C6B-49FC-BAF1-50FFF95FDF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5756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33339D9A-00DA-45CC-AE5B-AF22AC7AF004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3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F8D977-CDE9-4572-81C2-68ED3465B4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071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CC780130-3528-443E-B75F-8FC8C6140E83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38988-B560-4F3E-AC33-0C10AA1A38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27657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5498BC64-AC6B-4D75-9D08-A04D0BDDFEBF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853C0-9BA7-41B2-9F3E-6FE8DBBC3D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4403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4DF3E3EF-BA3D-494D-86CF-B005335B3B89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548438-D418-4F47-BADB-7CBCB6E99D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779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208338"/>
            <a:ext cx="2057400" cy="2917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208338"/>
            <a:ext cx="6019800" cy="2917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B5F1A4AB-30AA-4E53-8316-40BD6B8F484E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F3A9D-6ABA-4542-8C5D-C08E654599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4593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B937E31B-E813-4A13-939D-2204ED328D39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3DBA-6900-4337-8383-20A09F555F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8860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5864CA9E-4385-4854-941D-1F243C9665E9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26CCE-42CB-4ECD-B881-361D69678F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9835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8BF6CF5A-DD7B-4D4A-A82E-446D2AA840E2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BBC37-4F3C-4B29-87AB-8970D5B627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1116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BD804F7E-59A7-4C70-A816-2A71657D9327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7167B-9908-4092-8231-BE4AD6D8AF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85928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FDC89700-F2C7-4757-9CEF-BB82CB62BCA5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93326-4F49-419D-BEBA-364B6F54F5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9106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47E92EA9-5125-46D8-B1C7-D4B1F1C09E9F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73D06-4C44-4EBE-912B-0B527503F0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9385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B0B4AD2A-63BF-4F4E-A52B-9E3CB88761E8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D9A08-AF08-4B62-B954-729D0C0C7B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4061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DD4AC6CD-383C-4CA5-AA49-B7B61AC45C20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6B511-E6A7-42DE-A40F-677E8ED5E2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3558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7F4B53E0-EA99-4518-8CB0-CE5716FCA5BF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2A0D5-0CB1-4A16-A303-EFA8C7F603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4234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C09F2059-8693-4532-ABF6-A566911E45FD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282E3-7999-43FD-866B-F74DF53A92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96290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74E47F33-9BF4-4ABA-93F4-BE947A7F6223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31D96-7D7C-4D1A-91CC-3FAAC584DE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16175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title_Consumer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7463"/>
            <a:ext cx="9140825" cy="684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1066800" y="5454650"/>
            <a:ext cx="2970213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pic>
        <p:nvPicPr>
          <p:cNvPr id="7" name="Picture 8" descr="trend_log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03"/>
          <a:stretch>
            <a:fillRect/>
          </a:stretch>
        </p:blipFill>
        <p:spPr bwMode="auto">
          <a:xfrm>
            <a:off x="301625" y="263525"/>
            <a:ext cx="315753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04888" y="5553075"/>
            <a:ext cx="6400800" cy="838200"/>
          </a:xfrm>
          <a:ln/>
        </p:spPr>
        <p:txBody>
          <a:bodyPr/>
          <a:lstStyle>
            <a:lvl1pPr marL="0" indent="0">
              <a:buFontTx/>
              <a:buNone/>
              <a:defRPr sz="1700"/>
            </a:lvl1pPr>
          </a:lstStyle>
          <a:p>
            <a:r>
              <a:rPr lang="en-US"/>
              <a:t>Subtitle Here</a:t>
            </a:r>
          </a:p>
        </p:txBody>
      </p:sp>
      <p:sp>
        <p:nvSpPr>
          <p:cNvPr id="19661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4832350"/>
            <a:ext cx="6453188" cy="511175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F628422B-D214-4873-9C9F-3DE31CFFD651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6461CF-E805-4A58-AE2E-331A631F25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390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E82FBB06-8771-4C39-ACA5-AF95E7F5665C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820B9-B82B-4492-B081-8E3070F8E7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4572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60A12A39-4194-4AC6-8DC7-A535FDC0BB2B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EE936-2493-49C1-8A87-0A3FA8F756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07872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150" y="1543050"/>
            <a:ext cx="3278188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8738" y="1543050"/>
            <a:ext cx="3278187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50462029-D4D2-4235-B5B8-E79998C494A7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0EAB8-8832-4459-B713-74130D0B8F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07234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0DC4D5F6-F0B8-4672-84D6-E5A3E95A3A4B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BDECF-ADD8-4D00-B6FE-DB8BBA3089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401246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5208A0A8-AAE5-49E6-9143-B54772D35D87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DAC5E4-C096-42D3-8D1C-9094784802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15523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62DDD0FF-3771-4C02-BF3C-A28275C5AC4F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905FA-E12C-49C3-8848-205519E939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736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18F1692F-7CB8-40F1-A190-CF8EAD70BC7B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2E60E-76C5-4C90-BAA0-6D0C99AD3F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5520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DC1344CC-5006-4A34-919F-84B337765E58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98770-B15F-4722-B4DD-99B3221F5B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42571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4B62205C-4FA9-40B5-9AC2-79F313BF5DF2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71BDA-6F90-41B9-B658-6FDD0D058B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81683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67350" y="647700"/>
            <a:ext cx="1679575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8625" y="647700"/>
            <a:ext cx="4886325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025B5C12-FC2E-418E-B316-4B588F26FB6F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D00E8-FB44-4D43-8841-279C586611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74388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title_Corporate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-6350"/>
            <a:ext cx="9140825" cy="689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1066800" y="5454650"/>
            <a:ext cx="2970213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pic>
        <p:nvPicPr>
          <p:cNvPr id="7" name="Picture 8" descr="trend_log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03"/>
          <a:stretch>
            <a:fillRect/>
          </a:stretch>
        </p:blipFill>
        <p:spPr bwMode="auto">
          <a:xfrm>
            <a:off x="301625" y="263525"/>
            <a:ext cx="315753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865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04888" y="5553075"/>
            <a:ext cx="6400800" cy="838200"/>
          </a:xfrm>
          <a:ln/>
        </p:spPr>
        <p:txBody>
          <a:bodyPr/>
          <a:lstStyle>
            <a:lvl1pPr marL="0" indent="0">
              <a:buFontTx/>
              <a:buNone/>
              <a:defRPr sz="1700"/>
            </a:lvl1pPr>
          </a:lstStyle>
          <a:p>
            <a:r>
              <a:rPr lang="en-US"/>
              <a:t>Subtitle Here</a:t>
            </a:r>
          </a:p>
        </p:txBody>
      </p:sp>
      <p:sp>
        <p:nvSpPr>
          <p:cNvPr id="19866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4832350"/>
            <a:ext cx="6453188" cy="511175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8BEFDD7C-E057-4E01-AEA5-336A7D98C0C1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1A1FF3-70D8-4C26-A046-87F786A3B6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3614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06A67AC9-8FBA-45D6-A2C0-0CFEDFC48E2C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CB0D0-0216-420B-8ED2-5E8E1054B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84032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4DDB64DC-4AB4-4940-9E26-53FA3E4CD7AB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059AB-3ACC-4F49-A706-01DFEB3974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2146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150" y="1543050"/>
            <a:ext cx="3278188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8738" y="1543050"/>
            <a:ext cx="3278187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50F264E2-01F9-47DF-A83E-1EAE1CCCEC47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C21B2-0AC3-4822-B06B-4B2E3FDE3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70608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F03F3B1B-F9F9-4BEF-84FA-432C75C394AC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4DF42-78D4-49D3-828F-C47D212F03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1098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95AD332A-CADA-41E4-8010-BA2968BDDF32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CC165-A67E-4F9A-9D83-FA28BA95E3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67901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E531B439-D177-4F9D-B39B-46080BB25DE0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F2C4A-CBB0-475C-A9B6-6BDE14B556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4725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DC934F9B-4619-4801-8338-4DB11002E0DB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F9DD1-A3C2-48F7-A70E-06D24A0705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2048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2F3DD02B-F6F4-4FDA-9C17-70673B47BD86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96BDC-75DF-4A08-97EE-F472AE616A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29394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C3C1699A-9631-43CC-881B-43FEF01B52C3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02A638-37C0-4C35-9EF8-C13C9C6DEA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12679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67350" y="647700"/>
            <a:ext cx="1679575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8625" y="647700"/>
            <a:ext cx="4886325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7C770B47-0263-4B9F-8A3D-003FCCF4970A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50406-F3C8-4795-9001-12465F483C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62116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title_Insight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4288"/>
            <a:ext cx="9140825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1066800" y="5454650"/>
            <a:ext cx="2970213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pic>
        <p:nvPicPr>
          <p:cNvPr id="7" name="Picture 8" descr="trend_log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203"/>
          <a:stretch>
            <a:fillRect/>
          </a:stretch>
        </p:blipFill>
        <p:spPr bwMode="auto">
          <a:xfrm>
            <a:off x="301625" y="263525"/>
            <a:ext cx="3157538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04888" y="5553075"/>
            <a:ext cx="6400800" cy="838200"/>
          </a:xfrm>
          <a:ln/>
        </p:spPr>
        <p:txBody>
          <a:bodyPr/>
          <a:lstStyle>
            <a:lvl1pPr marL="0" indent="0">
              <a:buFontTx/>
              <a:buNone/>
              <a:defRPr sz="1700"/>
            </a:lvl1pPr>
          </a:lstStyle>
          <a:p>
            <a:r>
              <a:rPr lang="en-US"/>
              <a:t>Subtitle Here</a:t>
            </a:r>
          </a:p>
        </p:txBody>
      </p:sp>
      <p:sp>
        <p:nvSpPr>
          <p:cNvPr id="200708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4832350"/>
            <a:ext cx="6453188" cy="511175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85FEB368-ECEA-4E90-9EB4-6844CEC83474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DBCCC0-2B6F-40B1-8E45-B4141F6315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2382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549CB8E4-F963-4594-A133-2CA731DD5B06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7A9CE-3F6D-4349-8717-5F11AF2BAD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983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D9CA57E7-D5DD-49DF-9171-40D384F8D992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CE22A-4E17-4028-A28B-6EBC9BEE06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5731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8150" y="1543050"/>
            <a:ext cx="3278188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8738" y="1543050"/>
            <a:ext cx="3278187" cy="5124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8E590A5D-30BC-47D3-AC54-5CDDDAAA0A67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1BCDE-9824-4FD3-97C0-FD4EF80A2D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840422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6DB50F5C-9F23-424D-9144-7A00BDC626EE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39778-5D7B-4976-9A97-5692DC2167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90800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68480D9B-4C01-440F-B8A3-A89426E21A57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7600B-C827-41EE-BA50-831307D964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64650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3A242E77-D7E3-4C63-81D4-1F3A000FB4AB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669D2-844F-4F42-8AA4-2466D1F33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983825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477E5C46-96B8-4303-B8A7-F6B0F71DB503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748CF-26A2-4E39-837E-C4CA11F0F7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2195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E8A7DDDE-F883-455B-9826-122882E517D0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D4ED-AD67-4AE0-B9FC-9DD99E0E9F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0158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F90EC173-B4C5-4DA0-854D-F72E205C8CE3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539B0-3937-4EF6-9908-ACEDA15A98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94039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67350" y="647700"/>
            <a:ext cx="1679575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8625" y="647700"/>
            <a:ext cx="4886325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CC1244F4-9CBE-4F06-BB15-E6B8FD5CE669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E67686-07D9-4031-BFC1-2B9FD99C68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22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6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584" descr="subtitle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5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8150" y="1543050"/>
            <a:ext cx="670877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First level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9021" name="Rectangle 589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514600" y="6477000"/>
            <a:ext cx="1952625" cy="219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defRPr sz="600" b="0" smtClean="0">
                <a:solidFill>
                  <a:schemeClr val="bg2"/>
                </a:solidFill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A25B8453-1658-4543-A81D-7BA086044C16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4101" name="Rectangle 553"/>
          <p:cNvSpPr>
            <a:spLocks noGrp="1" noChangeArrowheads="1"/>
          </p:cNvSpPr>
          <p:nvPr>
            <p:ph type="title"/>
          </p:nvPr>
        </p:nvSpPr>
        <p:spPr bwMode="auto">
          <a:xfrm>
            <a:off x="428625" y="647700"/>
            <a:ext cx="67183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Title</a:t>
            </a:r>
          </a:p>
        </p:txBody>
      </p:sp>
      <p:pic>
        <p:nvPicPr>
          <p:cNvPr id="4102" name="Picture 586" descr="TM_small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296025"/>
            <a:ext cx="9906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24" name="Text Box 592"/>
          <p:cNvSpPr txBox="1">
            <a:spLocks noChangeArrowheads="1"/>
          </p:cNvSpPr>
          <p:nvPr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sp>
        <p:nvSpPr>
          <p:cNvPr id="19025" name="Rectangle 59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10225" y="6473825"/>
            <a:ext cx="277813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600" b="0" smtClean="0">
                <a:ea typeface="宋体" charset="-122"/>
              </a:defRPr>
            </a:lvl1pPr>
          </a:lstStyle>
          <a:p>
            <a:pPr>
              <a:defRPr/>
            </a:pPr>
            <a:fld id="{532A6AB8-2528-4454-ADFA-170A727A5E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31775" indent="-231775" algn="l" rtl="0" eaLnBrk="1" fontAlgn="base" hangingPunct="1">
        <a:lnSpc>
          <a:spcPct val="90000"/>
        </a:lnSpc>
        <a:spcBef>
          <a:spcPct val="5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2860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860425" indent="-17145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•"/>
        <a:defRPr>
          <a:solidFill>
            <a:schemeClr val="tx1"/>
          </a:solidFill>
          <a:latin typeface="+mn-lt"/>
          <a:cs typeface="+mn-cs"/>
        </a:defRPr>
      </a:lvl3pPr>
      <a:lvl4pPr marL="1146175" indent="-17145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1431925" indent="-17145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1889125" indent="-17145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346325" indent="-17145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2803525" indent="-17145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260725" indent="-171450" algn="l" rtl="0" eaLnBrk="1" fontAlgn="base" hangingPunct="1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3" descr="divid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2083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pic>
        <p:nvPicPr>
          <p:cNvPr id="5124" name="Picture 21" descr="TM_small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296025"/>
            <a:ext cx="9906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65" name="Rectangle 2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514600" y="6477000"/>
            <a:ext cx="1952625" cy="219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defRPr sz="600" b="0" smtClean="0"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3477D875-2E3F-4F6E-93CD-D992B142646C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126" name="Rectangle 2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4411663"/>
            <a:ext cx="82296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35872" name="Text Box 32"/>
          <p:cNvSpPr txBox="1">
            <a:spLocks noChangeArrowheads="1"/>
          </p:cNvSpPr>
          <p:nvPr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sp>
        <p:nvSpPr>
          <p:cNvPr id="35873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10225" y="6473825"/>
            <a:ext cx="277813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600" b="0" smtClean="0"/>
            </a:lvl1pPr>
          </a:lstStyle>
          <a:p>
            <a:pPr>
              <a:defRPr/>
            </a:pPr>
            <a:fld id="{CBBCED3B-F64A-4E5C-8BFD-FFDCCD70FB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  <a:ea typeface="ＭＳ Ｐゴシック" pitchFamily="1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divide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514600" y="6477000"/>
            <a:ext cx="1952625" cy="219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defRPr sz="600" b="0" smtClean="0"/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DAFDD98C-3998-4012-987E-A92540A17C3F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pic>
        <p:nvPicPr>
          <p:cNvPr id="6148" name="Picture 8" descr="TM_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4276725"/>
            <a:ext cx="2303463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sp>
        <p:nvSpPr>
          <p:cNvPr id="716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10225" y="6473825"/>
            <a:ext cx="277813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600" b="0" smtClean="0"/>
            </a:lvl1pPr>
          </a:lstStyle>
          <a:p>
            <a:pPr>
              <a:defRPr/>
            </a:pPr>
            <a:fld id="{258609D3-88EA-4A72-834B-9F2A2CF400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CC0000"/>
          </a:solidFill>
          <a:latin typeface="Arial" charset="0"/>
          <a:ea typeface="ＭＳ Ｐゴシック" pitchFamily="1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600">
          <a:solidFill>
            <a:srgbClr val="6D6F7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ubtitl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8150" y="1543050"/>
            <a:ext cx="670877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First level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95588" name="Rectangle 4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514600" y="6477000"/>
            <a:ext cx="1952625" cy="219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defRPr sz="600" b="0" smtClean="0">
                <a:solidFill>
                  <a:schemeClr val="bg2"/>
                </a:solidFill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E89A397E-F54B-4A7E-8033-936B2F039B34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28625" y="647700"/>
            <a:ext cx="67183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Title</a:t>
            </a:r>
          </a:p>
        </p:txBody>
      </p:sp>
      <p:pic>
        <p:nvPicPr>
          <p:cNvPr id="7174" name="Picture 6" descr="TM_small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296025"/>
            <a:ext cx="9906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91" name="Text Box 7"/>
          <p:cNvSpPr txBox="1">
            <a:spLocks noChangeArrowheads="1"/>
          </p:cNvSpPr>
          <p:nvPr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sp>
        <p:nvSpPr>
          <p:cNvPr id="19559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10225" y="6473825"/>
            <a:ext cx="277813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600" b="0" smtClean="0">
                <a:ea typeface="宋体" charset="-122"/>
              </a:defRPr>
            </a:lvl1pPr>
          </a:lstStyle>
          <a:p>
            <a:pPr>
              <a:defRPr/>
            </a:pPr>
            <a:fld id="{DECC6F31-3C88-4501-9509-023B15C53C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31775" indent="-2317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28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86042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•"/>
        <a:defRPr>
          <a:solidFill>
            <a:schemeClr val="tx1"/>
          </a:solidFill>
          <a:latin typeface="+mn-lt"/>
          <a:cs typeface="+mn-cs"/>
        </a:defRPr>
      </a:lvl3pPr>
      <a:lvl4pPr marL="114617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143192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18891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3463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28035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2607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subtitl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8150" y="1543050"/>
            <a:ext cx="670877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First level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97636" name="Rectangle 4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514600" y="6477000"/>
            <a:ext cx="1952625" cy="219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defRPr sz="600" b="0" smtClean="0">
                <a:solidFill>
                  <a:schemeClr val="bg2"/>
                </a:solidFill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B390A529-69EC-4788-9F9A-6852903BB4CA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28625" y="647700"/>
            <a:ext cx="67183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Title</a:t>
            </a:r>
          </a:p>
        </p:txBody>
      </p:sp>
      <p:pic>
        <p:nvPicPr>
          <p:cNvPr id="8198" name="Picture 6" descr="TM_small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296025"/>
            <a:ext cx="9906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9" name="Text Box 7"/>
          <p:cNvSpPr txBox="1">
            <a:spLocks noChangeArrowheads="1"/>
          </p:cNvSpPr>
          <p:nvPr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sp>
        <p:nvSpPr>
          <p:cNvPr id="19764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10225" y="6473825"/>
            <a:ext cx="277813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600" b="0" smtClean="0">
                <a:ea typeface="宋体" charset="-122"/>
              </a:defRPr>
            </a:lvl1pPr>
          </a:lstStyle>
          <a:p>
            <a:pPr>
              <a:defRPr/>
            </a:pPr>
            <a:fld id="{CBD7D602-89E7-48CA-B77A-E8484A089E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31775" indent="-2317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28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86042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•"/>
        <a:defRPr>
          <a:solidFill>
            <a:schemeClr val="tx1"/>
          </a:solidFill>
          <a:latin typeface="+mn-lt"/>
          <a:cs typeface="+mn-cs"/>
        </a:defRPr>
      </a:lvl3pPr>
      <a:lvl4pPr marL="114617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143192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18891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3463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28035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2607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ubtitl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8150" y="1543050"/>
            <a:ext cx="6708775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First level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99684" name="Rectangle 4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514600" y="6477000"/>
            <a:ext cx="1952625" cy="2190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defRPr sz="600" b="0" smtClean="0">
                <a:solidFill>
                  <a:schemeClr val="bg2"/>
                </a:solidFill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Classification </a:t>
            </a:r>
            <a:fld id="{BA812254-43F6-4938-AB71-F347D59954E9}" type="datetime1">
              <a:rPr lang="en-US" altLang="zh-CN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28625" y="647700"/>
            <a:ext cx="67183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Title</a:t>
            </a:r>
          </a:p>
        </p:txBody>
      </p:sp>
      <p:pic>
        <p:nvPicPr>
          <p:cNvPr id="9222" name="Picture 6" descr="TM_small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296025"/>
            <a:ext cx="9906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9687" name="Text Box 7"/>
          <p:cNvSpPr txBox="1">
            <a:spLocks noChangeArrowheads="1"/>
          </p:cNvSpPr>
          <p:nvPr/>
        </p:nvSpPr>
        <p:spPr bwMode="auto">
          <a:xfrm>
            <a:off x="4414838" y="6467475"/>
            <a:ext cx="1317625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600" b="0"/>
              <a:t>Copyright 2009   Trend Micro Inc.</a:t>
            </a:r>
          </a:p>
        </p:txBody>
      </p:sp>
      <p:sp>
        <p:nvSpPr>
          <p:cNvPr id="19968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10225" y="6473825"/>
            <a:ext cx="277813" cy="184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600" b="0" smtClean="0">
                <a:ea typeface="宋体" charset="-122"/>
              </a:defRPr>
            </a:lvl1pPr>
          </a:lstStyle>
          <a:p>
            <a:pPr>
              <a:defRPr/>
            </a:pPr>
            <a:fld id="{FA95A1D6-0300-4585-8976-52660F4D1F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31775" indent="-231775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2860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86042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•"/>
        <a:defRPr>
          <a:solidFill>
            <a:schemeClr val="tx1"/>
          </a:solidFill>
          <a:latin typeface="+mn-lt"/>
          <a:cs typeface="+mn-cs"/>
        </a:defRPr>
      </a:lvl3pPr>
      <a:lvl4pPr marL="114617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1431925" indent="-171450" algn="l" rtl="0" eaLnBrk="0" fontAlgn="base" hangingPunct="0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18891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3463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28035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260725" indent="-171450" algn="l" rtl="0" fontAlgn="base">
        <a:lnSpc>
          <a:spcPct val="90000"/>
        </a:lnSpc>
        <a:spcBef>
          <a:spcPct val="25000"/>
        </a:spcBef>
        <a:spcAft>
          <a:spcPct val="0"/>
        </a:spcAft>
        <a:buClr>
          <a:schemeClr val="tx2"/>
        </a:buClr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51cto.com/files/uploadimg/20091105/1935380.jp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xe4t6fc1(VS.80).aspx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msdn.microsoft.com/en-us/library/958x11bc(VS.80).aspx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\\tw-testing\Archive\Uniclient\win32\v1.6\en\1101_GM\debug_symbo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\\tw-testing\Archive\Uniclient\win64\v1.6\en\1101_GM\debug_symbo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ishare.trendmicro.com/enggroup/ConPDG/ThinClient/Titanium%203.0/Shared%20Documents/Dev/!Getting%20Start/DumpAnalyze/WinPlatTools-14600.rar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ishare.trendmicro.com/enggroup/ConPDG/ThinClient/Titanium%203.0/Shared%20Documents/Dev/!Getting%20Start/DumpAnalyze/AD1024%20Slide.rar" TargetMode="External"/><Relationship Id="rId4" Type="http://schemas.openxmlformats.org/officeDocument/2006/relationships/hyperlink" Target="http://ishare.trendmicro.com/enggroup/ConPDG/ThinClient/Titanium%203.0/Shared%20Documents/Dev/!Getting%20Start/DumpAnalyze/Notmyfault.zip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755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600" b="0"/>
              <a:t>Classification </a:t>
            </a:r>
            <a:fld id="{7751C043-52E8-4504-97AF-B54731D57E49}" type="datetime1">
              <a:rPr lang="en-US" altLang="zh-CN" sz="600" b="0"/>
              <a:pPr eaLnBrk="1" hangingPunct="1"/>
              <a:t>11/22/2020</a:t>
            </a:fld>
            <a:endParaRPr lang="en-US" altLang="zh-CN" sz="600" b="0"/>
          </a:p>
        </p:txBody>
      </p:sp>
      <p:sp>
        <p:nvSpPr>
          <p:cNvPr id="14339" name="Rectangle 3768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51BB951-553A-46DF-8BDF-933593DCE800}" type="slidenum">
              <a:rPr lang="en-US" altLang="zh-CN" sz="600" b="0"/>
              <a:pPr eaLnBrk="1" hangingPunct="1"/>
              <a:t>1</a:t>
            </a:fld>
            <a:endParaRPr lang="en-US" altLang="zh-CN" sz="600" b="0"/>
          </a:p>
        </p:txBody>
      </p:sp>
      <p:sp>
        <p:nvSpPr>
          <p:cNvPr id="14340" name="Rectangle 3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charset="-122"/>
              </a:rPr>
              <a:t>Dump Analysis &amp; Tips</a:t>
            </a:r>
          </a:p>
        </p:txBody>
      </p:sp>
      <p:sp>
        <p:nvSpPr>
          <p:cNvPr id="14341" name="Rectangle 3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charset="-122"/>
              </a:rPr>
              <a:t>Sean Yen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600" b="0">
                <a:solidFill>
                  <a:schemeClr val="bg2"/>
                </a:solidFill>
              </a:rPr>
              <a:t>Classification </a:t>
            </a:r>
            <a:fld id="{02531BFB-4C26-43C2-A8ED-DA4ADD58B32B}" type="datetime1">
              <a:rPr lang="en-US" altLang="zh-CN" sz="600" b="0">
                <a:solidFill>
                  <a:schemeClr val="bg2"/>
                </a:solidFill>
              </a:rPr>
              <a:pPr eaLnBrk="1" hangingPunct="1"/>
              <a:t>11/22/2020</a:t>
            </a:fld>
            <a:endParaRPr lang="en-US" altLang="zh-CN" sz="600" b="0">
              <a:solidFill>
                <a:schemeClr val="bg2"/>
              </a:solidFill>
            </a:endParaRP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45EC18E-E6C9-48D9-97D9-6A6BB8824600}" type="slidenum">
              <a:rPr lang="en-US" altLang="zh-CN" sz="600" b="0"/>
              <a:pPr eaLnBrk="1" hangingPunct="1"/>
              <a:t>2</a:t>
            </a:fld>
            <a:endParaRPr lang="en-US" altLang="zh-CN" sz="600" b="0"/>
          </a:p>
        </p:txBody>
      </p:sp>
      <p:sp>
        <p:nvSpPr>
          <p:cNvPr id="2253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charset="-122"/>
              </a:rPr>
              <a:t>Outline</a:t>
            </a:r>
          </a:p>
        </p:txBody>
      </p:sp>
      <p:sp>
        <p:nvSpPr>
          <p:cNvPr id="2253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charset="-122"/>
              </a:rPr>
              <a:t>Windows Memory Layout</a:t>
            </a:r>
          </a:p>
          <a:p>
            <a:pPr eaLnBrk="1" hangingPunct="1"/>
            <a:r>
              <a:rPr lang="en-US" altLang="zh-CN" dirty="0" smtClean="0">
                <a:ea typeface="宋体" charset="-122"/>
              </a:rPr>
              <a:t>Different Dump Types</a:t>
            </a:r>
          </a:p>
          <a:p>
            <a:pPr eaLnBrk="1" hangingPunct="1"/>
            <a:r>
              <a:rPr lang="en-US" altLang="zh-CN" dirty="0" smtClean="0">
                <a:ea typeface="宋体" charset="-122"/>
              </a:rPr>
              <a:t>Debug Symbol</a:t>
            </a:r>
          </a:p>
          <a:p>
            <a:pPr eaLnBrk="1" hangingPunct="1"/>
            <a:r>
              <a:rPr lang="en-US" altLang="zh-CN" dirty="0" smtClean="0">
                <a:ea typeface="宋体" charset="-122"/>
              </a:rPr>
              <a:t>Call Stack</a:t>
            </a:r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 smtClean="0">
                <a:ea typeface="宋体" charset="-122"/>
              </a:rPr>
              <a:t>“!Analyze –v”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新細明體" charset="-120"/>
              </a:rPr>
              <a:t>Windows Memory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09800" y="1828800"/>
            <a:ext cx="1752600" cy="403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TW" altLang="en-US">
              <a:solidFill>
                <a:srgbClr val="FFFFFF"/>
              </a:solidFill>
              <a:ea typeface="新細明體" charset="-12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371600" y="3733800"/>
            <a:ext cx="28956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62000" y="3276600"/>
            <a:ext cx="1258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0x7FFFFFFF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62000" y="3810000"/>
            <a:ext cx="1220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0x8000000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62000" y="1752600"/>
            <a:ext cx="1336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0x00000000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38200" y="5486400"/>
            <a:ext cx="124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0xFFFFFFFF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38400" y="1752600"/>
            <a:ext cx="1676400" cy="1905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ea typeface="新細明體" charset="-120"/>
              </a:rPr>
              <a:t>Process 1</a:t>
            </a:r>
            <a:endParaRPr lang="zh-TW" altLang="en-US">
              <a:solidFill>
                <a:schemeClr val="tx1"/>
              </a:solidFill>
              <a:ea typeface="新細明體" charset="-12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90800" y="1676400"/>
            <a:ext cx="1676400" cy="1905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ea typeface="新細明體" charset="-120"/>
              </a:rPr>
              <a:t>Process 2</a:t>
            </a:r>
            <a:endParaRPr lang="zh-TW" altLang="en-US">
              <a:solidFill>
                <a:schemeClr val="tx1"/>
              </a:solidFill>
              <a:ea typeface="新細明體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0" y="1600200"/>
            <a:ext cx="1676400" cy="1905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ea typeface="新細明體" charset="-120"/>
              </a:rPr>
              <a:t>Process 3</a:t>
            </a:r>
            <a:endParaRPr lang="zh-TW" altLang="en-US">
              <a:solidFill>
                <a:schemeClr val="tx1"/>
              </a:solidFill>
              <a:ea typeface="新細明體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562600" y="1828800"/>
            <a:ext cx="1828800" cy="403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rgbClr val="FFFFFF"/>
                </a:solidFill>
                <a:ea typeface="新細明體" charset="-120"/>
              </a:rPr>
              <a:t>HD</a:t>
            </a:r>
            <a:endParaRPr lang="zh-TW" altLang="en-US">
              <a:solidFill>
                <a:srgbClr val="FFFFFF"/>
              </a:solidFill>
              <a:ea typeface="新細明體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09800" y="4724400"/>
            <a:ext cx="1752600" cy="3048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ea typeface="新細明體" charset="-120"/>
              </a:rPr>
              <a:t>Session Space</a:t>
            </a:r>
            <a:endParaRPr lang="zh-TW" altLang="en-US">
              <a:solidFill>
                <a:schemeClr val="tx1"/>
              </a:solidFill>
              <a:ea typeface="新細明體" charset="-120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191000" y="3124200"/>
            <a:ext cx="1752600" cy="1588"/>
          </a:xfrm>
          <a:prstGeom prst="straightConnector1">
            <a:avLst/>
          </a:prstGeom>
          <a:ln w="2540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733800" y="4267200"/>
            <a:ext cx="2057400" cy="1588"/>
          </a:xfrm>
          <a:prstGeom prst="straightConnector1">
            <a:avLst/>
          </a:prstGeom>
          <a:ln w="25400">
            <a:solidFill>
              <a:schemeClr val="tx1"/>
            </a:solidFill>
            <a:headEnd type="stealth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867400" y="3429000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Page Fault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2209800" y="5943600"/>
            <a:ext cx="1655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Virtual memory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5039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2" grpId="0"/>
      <p:bldP spid="13" grpId="0"/>
      <p:bldP spid="14" grpId="0"/>
      <p:bldP spid="15" grpId="0" build="allAtOnce" animBg="1"/>
      <p:bldP spid="16" grpId="0" build="allAtOnce" animBg="1"/>
      <p:bldP spid="17" grpId="0" build="allAtOnce" animBg="1"/>
      <p:bldP spid="18" grpId="0" build="allAtOnce" animBg="1"/>
      <p:bldP spid="19" grpId="0" build="allAtOnce" animBg="1"/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Different Dump Types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4520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Different Dump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1752600"/>
            <a:ext cx="1752600" cy="403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TW" altLang="en-US">
              <a:solidFill>
                <a:srgbClr val="FFFFFF"/>
              </a:solidFill>
              <a:ea typeface="新細明體" charset="-120"/>
            </a:endParaRPr>
          </a:p>
        </p:txBody>
      </p:sp>
      <p:sp>
        <p:nvSpPr>
          <p:cNvPr id="8196" name="TextBox 12"/>
          <p:cNvSpPr txBox="1">
            <a:spLocks noChangeArrowheads="1"/>
          </p:cNvSpPr>
          <p:nvPr/>
        </p:nvSpPr>
        <p:spPr bwMode="auto">
          <a:xfrm>
            <a:off x="4343400" y="5867400"/>
            <a:ext cx="1768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Physical memory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95800" y="1981200"/>
            <a:ext cx="1676400" cy="609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ea typeface="新細明體" charset="-120"/>
              </a:rPr>
              <a:t>Notepad</a:t>
            </a:r>
            <a:endParaRPr lang="zh-TW" altLang="en-US">
              <a:solidFill>
                <a:schemeClr val="tx1"/>
              </a:solidFill>
              <a:ea typeface="新細明體" charset="-12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495800" y="2743200"/>
            <a:ext cx="16764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ea typeface="新細明體" charset="-120"/>
              </a:rPr>
              <a:t>Calc</a:t>
            </a:r>
            <a:endParaRPr lang="zh-TW" altLang="en-US">
              <a:solidFill>
                <a:schemeClr val="tx1"/>
              </a:solidFill>
              <a:ea typeface="新細明體" charset="-120"/>
            </a:endParaRPr>
          </a:p>
        </p:txBody>
      </p:sp>
      <p:cxnSp>
        <p:nvCxnSpPr>
          <p:cNvPr id="22" name="Straight Arrow Connector 21"/>
          <p:cNvCxnSpPr>
            <a:stCxn id="32" idx="1"/>
          </p:cNvCxnSpPr>
          <p:nvPr/>
        </p:nvCxnSpPr>
        <p:spPr>
          <a:xfrm rot="10800000" flipV="1">
            <a:off x="2209800" y="4343400"/>
            <a:ext cx="2209800" cy="2667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09600" y="4648200"/>
            <a:ext cx="2246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Kernel Memory dump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76400" y="1752600"/>
            <a:ext cx="148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Notepad.dmp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cxnSp>
        <p:nvCxnSpPr>
          <p:cNvPr id="28" name="Straight Arrow Connector 27"/>
          <p:cNvCxnSpPr>
            <a:endCxn id="26" idx="3"/>
          </p:cNvCxnSpPr>
          <p:nvPr/>
        </p:nvCxnSpPr>
        <p:spPr>
          <a:xfrm rot="10800000">
            <a:off x="3162300" y="1936750"/>
            <a:ext cx="1485900" cy="3492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1752600" y="2743200"/>
            <a:ext cx="1055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Calc.dmp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  <p:cxnSp>
        <p:nvCxnSpPr>
          <p:cNvPr id="31" name="Straight Arrow Connector 30"/>
          <p:cNvCxnSpPr>
            <a:stCxn id="17" idx="1"/>
            <a:endCxn id="29" idx="3"/>
          </p:cNvCxnSpPr>
          <p:nvPr/>
        </p:nvCxnSpPr>
        <p:spPr>
          <a:xfrm rot="10800000">
            <a:off x="2808288" y="2927350"/>
            <a:ext cx="1687512" cy="635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419600" y="3657600"/>
            <a:ext cx="1752600" cy="13716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TW">
                <a:solidFill>
                  <a:schemeClr val="tx1"/>
                </a:solidFill>
                <a:ea typeface="新細明體" charset="-120"/>
              </a:rPr>
              <a:t>ntosknl</a:t>
            </a:r>
            <a:endParaRPr lang="zh-TW" altLang="en-US">
              <a:solidFill>
                <a:schemeClr val="tx1"/>
              </a:solidFill>
              <a:ea typeface="新細明體" charset="-12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5715000" y="4953000"/>
            <a:ext cx="1447800" cy="38100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6858000" y="4495800"/>
            <a:ext cx="1998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TW">
                <a:latin typeface="Calibri" pitchFamily="34" charset="0"/>
                <a:ea typeface="新細明體" charset="-120"/>
              </a:rPr>
              <a:t>Full Memory Dump</a:t>
            </a:r>
            <a:endParaRPr lang="zh-TW" altLang="en-US">
              <a:latin typeface="Calibri" pitchFamily="34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01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9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Different Dump Types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Complete memory dump </a:t>
            </a:r>
          </a:p>
          <a:p>
            <a:pPr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Kernel memory dump </a:t>
            </a:r>
          </a:p>
          <a:p>
            <a:pPr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Small memory dump (64 KB)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The Stop message and its parameters and other data 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loaded drivers 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The processor context (PRCB) for the processor that stopped 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The process information and kernel context (EPROCESS) for the process that stopped 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The process information and kernel context (ETHREAD) for the thread that stopped 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ea typeface="新細明體" charset="-120"/>
              </a:rPr>
              <a:t>The Kernel-mode call stack for the thread that stopped</a:t>
            </a:r>
          </a:p>
          <a:p>
            <a:pPr>
              <a:lnSpc>
                <a:spcPct val="90000"/>
              </a:lnSpc>
            </a:pPr>
            <a:endParaRPr lang="en-US" altLang="zh-TW" sz="2600" dirty="0" smtClean="0">
              <a:ea typeface="新細明體" charset="-120"/>
            </a:endParaRPr>
          </a:p>
          <a:p>
            <a:pPr>
              <a:lnSpc>
                <a:spcPct val="90000"/>
              </a:lnSpc>
            </a:pPr>
            <a:endParaRPr lang="en-US" altLang="zh-TW" dirty="0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479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Different Dump Types</a:t>
            </a:r>
            <a:endParaRPr lang="zh-TW" altLang="en-US" dirty="0" smtClean="0">
              <a:ea typeface="新細明體" charset="-12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ea typeface="新細明體" charset="-120"/>
              </a:rPr>
              <a:t>Minidump</a:t>
            </a:r>
            <a:endParaRPr lang="en-US" altLang="zh-TW" dirty="0" smtClean="0">
              <a:ea typeface="新細明體" charset="-120"/>
            </a:endParaRPr>
          </a:p>
          <a:p>
            <a:pPr lvl="1"/>
            <a:r>
              <a:rPr lang="en-US" altLang="zh-TW" dirty="0" smtClean="0">
                <a:ea typeface="新細明體" charset="-120"/>
              </a:rPr>
              <a:t>A user-mode dump file that includes only selected parts of the memory associated with a process is called a </a:t>
            </a:r>
            <a:r>
              <a:rPr lang="en-US" altLang="zh-TW" i="1" dirty="0" err="1" smtClean="0">
                <a:ea typeface="新細明體" charset="-120"/>
              </a:rPr>
              <a:t>minidump</a:t>
            </a:r>
            <a:r>
              <a:rPr lang="en-US" altLang="zh-TW" dirty="0" smtClean="0">
                <a:ea typeface="新細明體" charset="-120"/>
              </a:rPr>
              <a:t>.</a:t>
            </a:r>
          </a:p>
          <a:p>
            <a:r>
              <a:rPr lang="en-US" altLang="zh-TW" dirty="0" smtClean="0">
                <a:ea typeface="新細明體" charset="-120"/>
              </a:rPr>
              <a:t>Full user dump</a:t>
            </a:r>
          </a:p>
          <a:p>
            <a:pPr lvl="1"/>
            <a:r>
              <a:rPr lang="en-US" altLang="zh-TW" dirty="0" smtClean="0">
                <a:ea typeface="新細明體" charset="-120"/>
              </a:rPr>
              <a:t>entire memory space of a process, the program's executable image itself, the handle table, and other information that will be useful to the debugger.</a:t>
            </a:r>
          </a:p>
          <a:p>
            <a:endParaRPr lang="zh-TW" altLang="en-US" dirty="0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592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Dump Types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When people are asking a dump, it usually means…</a:t>
            </a:r>
          </a:p>
          <a:p>
            <a:pPr lvl="1"/>
            <a:r>
              <a:rPr lang="en-US" altLang="zh-TW" dirty="0" smtClean="0"/>
              <a:t>Full user-mode dump</a:t>
            </a:r>
          </a:p>
          <a:p>
            <a:pPr lvl="1"/>
            <a:r>
              <a:rPr lang="en-US" altLang="zh-TW" dirty="0" smtClean="0"/>
              <a:t>Complete memory dump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9524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Mini/Full Dump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Don’t close application error dialog</a:t>
            </a:r>
          </a:p>
          <a:p>
            <a:r>
              <a:rPr lang="en-US" altLang="zh-TW" dirty="0" smtClean="0"/>
              <a:t>Use Process Explorer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4097" name="Picture 1" descr="C:\Users\sean_yen\Dropbox\Private\螢幕快照 2011-09-18 下午7.38.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2784475"/>
            <a:ext cx="3124200" cy="2103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http://community.landesk.com/support/servlet/JiveServlet/download/8255-2010/miniscan%20error.bm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75" y="2784475"/>
            <a:ext cx="3717246" cy="276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向右箭號 6"/>
          <p:cNvSpPr/>
          <p:nvPr/>
        </p:nvSpPr>
        <p:spPr bwMode="auto">
          <a:xfrm>
            <a:off x="3924300" y="3836341"/>
            <a:ext cx="1333500" cy="54515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563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AMSP Mini/Full Dump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Disable Self-Protection</a:t>
            </a:r>
          </a:p>
          <a:p>
            <a:r>
              <a:rPr lang="en-US" altLang="zh-TW" dirty="0" smtClean="0"/>
              <a:t>Add Debugger into Exclusion List.</a:t>
            </a:r>
          </a:p>
          <a:p>
            <a:pPr lvl="1"/>
            <a:r>
              <a:rPr lang="en-US" altLang="zh-TW" dirty="0" smtClean="0"/>
              <a:t>Otherwise, debugger &amp; AMSP will deadlock the OS.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907344" y="2933700"/>
            <a:ext cx="6167842" cy="3385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i="1" dirty="0"/>
              <a:t>AMSP_ClientLibrary_MT.exe -c=</a:t>
            </a:r>
            <a:r>
              <a:rPr lang="en-US" altLang="zh-TW" i="1" dirty="0" err="1"/>
              <a:t>add_exclusion_pid</a:t>
            </a:r>
            <a:r>
              <a:rPr lang="en-US" altLang="zh-TW" i="1" dirty="0"/>
              <a:t> -id=&lt;PID</a:t>
            </a:r>
            <a:r>
              <a:rPr lang="en-US" altLang="zh-TW" i="1" dirty="0" smtClean="0"/>
              <a:t>&gt;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6575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Memory Dump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 </a:t>
            </a:r>
            <a:r>
              <a:rPr lang="en-US" altLang="zh-TW" dirty="0" err="1" smtClean="0"/>
              <a:t>DumpConfiguration</a:t>
            </a:r>
            <a:r>
              <a:rPr lang="en-US" altLang="zh-TW" dirty="0" smtClean="0"/>
              <a:t> tool</a:t>
            </a:r>
          </a:p>
          <a:p>
            <a:r>
              <a:rPr lang="en-US" altLang="zh-TW" dirty="0" smtClean="0"/>
              <a:t>Once options are decided, click “Auto 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 Complete”.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6" name="圖片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7887" y="3062287"/>
            <a:ext cx="5573713" cy="2970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858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Memory Dump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8150" y="1543050"/>
            <a:ext cx="5278437" cy="5124450"/>
          </a:xfrm>
        </p:spPr>
        <p:txBody>
          <a:bodyPr/>
          <a:lstStyle/>
          <a:p>
            <a:r>
              <a:rPr lang="en-US" altLang="zh-TW" dirty="0" smtClean="0"/>
              <a:t>If “Right Ctrl-Scroll-Scroll via Keyboard” is enabled, then you can click the keystroke sequence anytime to generate memory dump.</a:t>
            </a:r>
          </a:p>
          <a:p>
            <a:r>
              <a:rPr lang="en-US" altLang="zh-TW" dirty="0" smtClean="0"/>
              <a:t>USB Keyboard requires hotfix to use the feature.</a:t>
            </a:r>
          </a:p>
          <a:p>
            <a:r>
              <a:rPr lang="en-US" altLang="zh-TW" dirty="0" smtClean="0"/>
              <a:t>Some </a:t>
            </a:r>
            <a:r>
              <a:rPr lang="en-US" altLang="zh-TW" dirty="0"/>
              <a:t>n</a:t>
            </a:r>
            <a:r>
              <a:rPr lang="en-US" altLang="zh-TW" dirty="0" smtClean="0"/>
              <a:t>ote book cannot use this feature due to no scroll key.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6" name="圖片 5" descr="Figure 14-8 Notmyfault">
            <a:hlinkClick r:id="rId3" tgtFrame="&quot;_blank&quot;"/>
          </p:cNvPr>
          <p:cNvPicPr/>
          <p:nvPr/>
        </p:nvPicPr>
        <p:blipFill>
          <a:blip r:embed="rId4" cstate="print"/>
          <a:srcRect b="5831"/>
          <a:stretch>
            <a:fillRect/>
          </a:stretch>
        </p:blipFill>
        <p:spPr bwMode="auto">
          <a:xfrm>
            <a:off x="5716587" y="2233612"/>
            <a:ext cx="3300413" cy="4103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758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Debug Symbol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10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新細明體" charset="-120"/>
              </a:rPr>
              <a:t> Symbol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Memory is just sequences of raw bytes</a:t>
            </a:r>
          </a:p>
          <a:p>
            <a:r>
              <a:rPr lang="en-US" altLang="zh-TW" dirty="0" smtClean="0">
                <a:ea typeface="新細明體" charset="-120"/>
              </a:rPr>
              <a:t>Symbols help the debugger to :</a:t>
            </a:r>
          </a:p>
          <a:p>
            <a:pPr lvl="1"/>
            <a:r>
              <a:rPr lang="en-US" altLang="zh-TW" dirty="0" smtClean="0">
                <a:ea typeface="新細明體" charset="-120"/>
              </a:rPr>
              <a:t>Map raw addresses to source code lines</a:t>
            </a:r>
          </a:p>
          <a:p>
            <a:pPr lvl="1"/>
            <a:r>
              <a:rPr lang="en-US" altLang="zh-TW" dirty="0" smtClean="0">
                <a:ea typeface="新細明體" charset="-120"/>
              </a:rPr>
              <a:t>Analyze internal layout and data of applications and OS.</a:t>
            </a:r>
          </a:p>
          <a:p>
            <a:endParaRPr lang="en-US" altLang="zh-TW" dirty="0" smtClean="0"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858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>
                <a:ea typeface="新細明體" charset="-120"/>
              </a:rPr>
              <a:t>Symbol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200" dirty="0" smtClean="0">
                <a:ea typeface="新細明體" charset="-120"/>
              </a:rPr>
              <a:t>Public functions and variables</a:t>
            </a:r>
          </a:p>
          <a:p>
            <a:pPr>
              <a:lnSpc>
                <a:spcPct val="80000"/>
              </a:lnSpc>
            </a:pPr>
            <a:r>
              <a:rPr lang="en-US" altLang="zh-TW" sz="2200" dirty="0" smtClean="0">
                <a:ea typeface="新細明體" charset="-120"/>
              </a:rPr>
              <a:t>FPO information</a:t>
            </a:r>
          </a:p>
          <a:p>
            <a:pPr>
              <a:lnSpc>
                <a:spcPct val="80000"/>
              </a:lnSpc>
            </a:pPr>
            <a:r>
              <a:rPr lang="en-US" altLang="zh-TW" sz="2200" dirty="0" smtClean="0">
                <a:ea typeface="新細明體" charset="-120"/>
              </a:rPr>
              <a:t>Private functions and variables (X)</a:t>
            </a:r>
          </a:p>
          <a:p>
            <a:pPr>
              <a:lnSpc>
                <a:spcPct val="80000"/>
              </a:lnSpc>
            </a:pPr>
            <a:r>
              <a:rPr lang="en-US" altLang="zh-TW" sz="2200" dirty="0" smtClean="0">
                <a:ea typeface="新細明體" charset="-120"/>
              </a:rPr>
              <a:t>Source file and line information (X)</a:t>
            </a:r>
          </a:p>
          <a:p>
            <a:pPr>
              <a:lnSpc>
                <a:spcPct val="80000"/>
              </a:lnSpc>
            </a:pPr>
            <a:r>
              <a:rPr lang="en-US" altLang="zh-TW" sz="2200" dirty="0" smtClean="0">
                <a:ea typeface="新細明體" charset="-120"/>
              </a:rPr>
              <a:t>Type information (X)</a:t>
            </a:r>
          </a:p>
          <a:p>
            <a:pPr>
              <a:lnSpc>
                <a:spcPct val="80000"/>
              </a:lnSpc>
            </a:pPr>
            <a:endParaRPr lang="en-US" altLang="zh-TW" sz="2200" dirty="0" smtClean="0">
              <a:ea typeface="新細明體" charset="-120"/>
            </a:endParaRPr>
          </a:p>
          <a:p>
            <a:pPr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altLang="zh-TW" sz="2200" dirty="0" smtClean="0">
                <a:ea typeface="新細明體" charset="-120"/>
              </a:rPr>
              <a:t>Generate a PDB file (</a:t>
            </a:r>
            <a:r>
              <a:rPr lang="en-US" altLang="zh-TW" sz="2200" dirty="0" smtClean="0">
                <a:ea typeface="新細明體" charset="-120"/>
                <a:hlinkClick r:id="rId3"/>
              </a:rPr>
              <a:t>/DEBUG</a:t>
            </a:r>
            <a:r>
              <a:rPr lang="en-US" altLang="zh-TW" sz="2200" dirty="0" smtClean="0">
                <a:ea typeface="新細明體" charset="-120"/>
              </a:rPr>
              <a:t>, </a:t>
            </a:r>
            <a:r>
              <a:rPr lang="en-US" altLang="zh-TW" sz="2200" dirty="0" smtClean="0">
                <a:ea typeface="新細明體" charset="-120"/>
                <a:hlinkClick r:id="rId4"/>
              </a:rPr>
              <a:t>/Z7</a:t>
            </a:r>
            <a:r>
              <a:rPr lang="en-US" altLang="zh-TW" sz="2200" dirty="0" smtClean="0">
                <a:ea typeface="新細明體" charset="-120"/>
              </a:rPr>
              <a:t>, /</a:t>
            </a:r>
            <a:r>
              <a:rPr lang="en-US" altLang="zh-TW" sz="2200" dirty="0" err="1" smtClean="0">
                <a:ea typeface="新細明體" charset="-120"/>
              </a:rPr>
              <a:t>Zd</a:t>
            </a:r>
            <a:r>
              <a:rPr lang="en-US" altLang="zh-TW" sz="2200" dirty="0" smtClean="0">
                <a:ea typeface="新細明體" charset="-120"/>
              </a:rPr>
              <a:t>, or /</a:t>
            </a:r>
            <a:r>
              <a:rPr lang="en-US" altLang="zh-TW" sz="2200" dirty="0" err="1" smtClean="0">
                <a:ea typeface="新細明體" charset="-120"/>
              </a:rPr>
              <a:t>Zi</a:t>
            </a:r>
            <a:r>
              <a:rPr lang="en-US" altLang="zh-TW" sz="2200" dirty="0" smtClean="0">
                <a:ea typeface="新細明體" charset="-120"/>
              </a:rPr>
              <a:t>)</a:t>
            </a:r>
          </a:p>
          <a:p>
            <a:pPr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altLang="zh-TW" sz="2200" dirty="0" smtClean="0">
                <a:ea typeface="新細明體" charset="-120"/>
              </a:rPr>
              <a:t>The /PDBSTRIPPED option creates a second program database (PDB) </a:t>
            </a:r>
          </a:p>
          <a:p>
            <a:pPr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altLang="zh-TW" sz="2200" dirty="0" smtClean="0">
                <a:ea typeface="新細明體" charset="-120"/>
              </a:rPr>
              <a:t>This second PDB file omits symbols that you would not want to ship to your customers.</a:t>
            </a:r>
          </a:p>
          <a:p>
            <a:pPr>
              <a:lnSpc>
                <a:spcPct val="80000"/>
              </a:lnSpc>
              <a:buFont typeface="Calibri" pitchFamily="34" charset="0"/>
              <a:buAutoNum type="arabicPeriod"/>
            </a:pPr>
            <a:r>
              <a:rPr lang="en-US" altLang="zh-TW" sz="2200" dirty="0" smtClean="0">
                <a:ea typeface="新細明體" charset="-120"/>
              </a:rPr>
              <a:t>Public Symbols for MS modules (kernel32.dll, user32.dll…) are always stripped.</a:t>
            </a:r>
          </a:p>
        </p:txBody>
      </p:sp>
    </p:spTree>
    <p:extLst>
      <p:ext uri="{BB962C8B-B14F-4D97-AF65-F5344CB8AC3E}">
        <p14:creationId xmlns:p14="http://schemas.microsoft.com/office/powerpoint/2010/main" val="386333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Setup Symbol &amp; Image Path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413" y="1874838"/>
            <a:ext cx="543877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413" y="4249738"/>
            <a:ext cx="543877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1874838"/>
            <a:ext cx="276225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向右箭號 6"/>
          <p:cNvSpPr/>
          <p:nvPr/>
        </p:nvSpPr>
        <p:spPr bwMode="auto">
          <a:xfrm>
            <a:off x="3416300" y="3932238"/>
            <a:ext cx="1358900" cy="3556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141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Symbol Path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 smtClean="0"/>
              <a:t>Useful Symbol Server</a:t>
            </a:r>
          </a:p>
          <a:p>
            <a:pPr lvl="1"/>
            <a:r>
              <a:rPr lang="en-US" altLang="zh-TW" sz="1200" dirty="0"/>
              <a:t>SRV*C:\WINDOWS\Symbols</a:t>
            </a:r>
            <a:r>
              <a:rPr lang="en-US" altLang="zh-TW" sz="1200" dirty="0" smtClean="0"/>
              <a:t>*\\</a:t>
            </a:r>
            <a:r>
              <a:rPr lang="en-US" altLang="zh-TW" sz="1200" dirty="0" err="1" smtClean="0"/>
              <a:t>tw</a:t>
            </a:r>
            <a:r>
              <a:rPr lang="en-US" altLang="zh-TW" sz="1200" dirty="0" smtClean="0"/>
              <a:t>-testing\</a:t>
            </a:r>
            <a:r>
              <a:rPr lang="en-US" altLang="zh-TW" sz="1200" dirty="0" err="1" smtClean="0"/>
              <a:t>SymbolRoot</a:t>
            </a:r>
            <a:r>
              <a:rPr lang="en-US" altLang="zh-TW" sz="1200" dirty="0" smtClean="0"/>
              <a:t>\</a:t>
            </a:r>
            <a:r>
              <a:rPr lang="en-US" altLang="zh-TW" sz="1200" dirty="0" err="1" smtClean="0"/>
              <a:t>UniClient</a:t>
            </a:r>
            <a:r>
              <a:rPr lang="en-US" altLang="zh-TW" sz="1200" dirty="0" smtClean="0"/>
              <a:t>\2.0\win32\</a:t>
            </a:r>
            <a:r>
              <a:rPr lang="en-US" altLang="zh-TW" sz="1200" dirty="0" err="1" smtClean="0"/>
              <a:t>en</a:t>
            </a:r>
            <a:r>
              <a:rPr lang="en-US" altLang="zh-TW" sz="1200" dirty="0" smtClean="0"/>
              <a:t>;</a:t>
            </a:r>
            <a:endParaRPr lang="en-US" altLang="zh-TW" sz="1200" dirty="0"/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</a:t>
            </a:r>
            <a:r>
              <a:rPr lang="en-US" altLang="zh-TW" sz="1200" dirty="0" err="1"/>
              <a:t>UniClient</a:t>
            </a:r>
            <a:r>
              <a:rPr lang="en-US" altLang="zh-TW" sz="1200" dirty="0"/>
              <a:t>\2.0\win64\en;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</a:t>
            </a:r>
            <a:r>
              <a:rPr lang="en-US" altLang="zh-TW" sz="1200" dirty="0" err="1"/>
              <a:t>UniClient</a:t>
            </a:r>
            <a:r>
              <a:rPr lang="en-US" altLang="zh-TW" sz="1200" dirty="0"/>
              <a:t>\1.6\win32\en;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</a:t>
            </a:r>
            <a:r>
              <a:rPr lang="en-US" altLang="zh-TW" sz="1200" dirty="0" err="1"/>
              <a:t>UniClient</a:t>
            </a:r>
            <a:r>
              <a:rPr lang="en-US" altLang="zh-TW" sz="1200" dirty="0"/>
              <a:t>\1.6\win64\en;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</a:t>
            </a:r>
            <a:r>
              <a:rPr lang="en-US" altLang="zh-TW" sz="1200" dirty="0" err="1"/>
              <a:t>UniClient</a:t>
            </a:r>
            <a:r>
              <a:rPr lang="en-US" altLang="zh-TW" sz="1200" dirty="0"/>
              <a:t>\1.5\win32\en;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</a:t>
            </a:r>
            <a:r>
              <a:rPr lang="en-US" altLang="zh-TW" sz="1200" dirty="0" err="1"/>
              <a:t>UniClient</a:t>
            </a:r>
            <a:r>
              <a:rPr lang="en-US" altLang="zh-TW" sz="1200" dirty="0"/>
              <a:t>\1.5\win64\en;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\AMSP\2.0\win32\en;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\AMSP\2.0\win64\en;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\AMSP\1.6\win32\en;</a:t>
            </a:r>
          </a:p>
          <a:p>
            <a:pPr lvl="1"/>
            <a:r>
              <a:rPr lang="en-US" altLang="zh-TW" sz="1200" dirty="0"/>
              <a:t>SRV*C:\WINDOWS\Symbols*\\</a:t>
            </a:r>
            <a:r>
              <a:rPr lang="en-US" altLang="zh-TW" sz="1200" dirty="0" err="1"/>
              <a:t>tw</a:t>
            </a:r>
            <a:r>
              <a:rPr lang="en-US" altLang="zh-TW" sz="1200" dirty="0"/>
              <a:t>-testing\</a:t>
            </a:r>
            <a:r>
              <a:rPr lang="en-US" altLang="zh-TW" sz="1200" dirty="0" err="1"/>
              <a:t>SymbolRoot</a:t>
            </a:r>
            <a:r>
              <a:rPr lang="en-US" altLang="zh-TW" sz="1200" dirty="0"/>
              <a:t>\AMSP\1.6\win64\en;</a:t>
            </a:r>
          </a:p>
          <a:p>
            <a:pPr lvl="1"/>
            <a:r>
              <a:rPr lang="en-US" altLang="zh-TW" sz="1200" dirty="0"/>
              <a:t>SRV*C:\WINDOWS\Symbols*http://tw-amspsymbol/AMSP;</a:t>
            </a:r>
          </a:p>
          <a:p>
            <a:pPr lvl="1"/>
            <a:r>
              <a:rPr lang="en-US" altLang="zh-TW" sz="1200" dirty="0"/>
              <a:t>SRV*C:\WINDOWS\Symbols*http://tw-coretech:81/symbols/;</a:t>
            </a:r>
          </a:p>
          <a:p>
            <a:pPr lvl="1"/>
            <a:r>
              <a:rPr lang="en-US" altLang="zh-TW" sz="1200" dirty="0"/>
              <a:t>SRV*C:\WINDOWS\Symbols*http://tw-amspsymbol/WINDOWS;</a:t>
            </a:r>
          </a:p>
          <a:p>
            <a:pPr lvl="1"/>
            <a:r>
              <a:rPr lang="en-US" altLang="zh-TW" sz="1200" dirty="0"/>
              <a:t>SRV*C:\WINDOWS\Symbols*http://</a:t>
            </a:r>
            <a:r>
              <a:rPr lang="en-US" altLang="zh-TW" sz="1200" dirty="0" smtClean="0"/>
              <a:t>msdl.microsoft.com/download/symbols</a:t>
            </a:r>
          </a:p>
          <a:p>
            <a:r>
              <a:rPr lang="en-US" altLang="zh-TW" sz="1800" dirty="0" smtClean="0"/>
              <a:t>Archived Debug Symbol</a:t>
            </a:r>
          </a:p>
          <a:p>
            <a:pPr lvl="1"/>
            <a:r>
              <a:rPr lang="en-US" altLang="zh-TW" sz="1200" dirty="0">
                <a:hlinkClick r:id="rId3" action="ppaction://hlinkfile"/>
              </a:rPr>
              <a:t>\\tw-testing\Archive\Uniclient\win32\v1.6\en\1101_GM\debug_symbol</a:t>
            </a:r>
            <a:endParaRPr lang="en-US" altLang="zh-TW" sz="1200" dirty="0"/>
          </a:p>
          <a:p>
            <a:pPr lvl="1"/>
            <a:r>
              <a:rPr lang="en-US" altLang="zh-TW" sz="1200" dirty="0">
                <a:hlinkClick r:id="rId4" action="ppaction://hlinkfile"/>
              </a:rPr>
              <a:t>\\tw-testing\Archive\Uniclient\win64\v1.6\en\1101_GM\debug_symbol</a:t>
            </a:r>
            <a:endParaRPr lang="en-US" altLang="zh-TW" sz="1200" dirty="0"/>
          </a:p>
          <a:p>
            <a:pPr lvl="1"/>
            <a:endParaRPr lang="zh-TW" altLang="en-US" sz="12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11/23/2020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225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 for Reload Symbol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List Loaded Module “lm”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Force to load symbol</a:t>
            </a:r>
          </a:p>
          <a:p>
            <a:pPr lvl="1"/>
            <a:r>
              <a:rPr lang="en-US" altLang="zh-TW" dirty="0" smtClean="0"/>
              <a:t>“.reload /r /</a:t>
            </a:r>
            <a:r>
              <a:rPr lang="en-US" altLang="zh-TW" dirty="0"/>
              <a:t>i </a:t>
            </a:r>
            <a:r>
              <a:rPr lang="en-US" altLang="zh-TW" dirty="0" smtClean="0"/>
              <a:t>advapi32.dll=77d80000,A9000”</a:t>
            </a:r>
          </a:p>
          <a:p>
            <a:pPr lvl="1"/>
            <a:r>
              <a:rPr lang="en-US" altLang="zh-TW" dirty="0" smtClean="0"/>
              <a:t>“/r” means to reload if loaded</a:t>
            </a:r>
          </a:p>
          <a:p>
            <a:pPr lvl="1"/>
            <a:r>
              <a:rPr lang="en-US" altLang="zh-TW" dirty="0" smtClean="0"/>
              <a:t>“/i” means to ignore checksum</a:t>
            </a:r>
          </a:p>
          <a:p>
            <a:pPr lvl="1"/>
            <a:r>
              <a:rPr lang="en-US" altLang="zh-TW" dirty="0" smtClean="0"/>
              <a:t>“xxx.dll=&lt;start address&gt;,&lt;image size&gt;”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101600" y="1981200"/>
            <a:ext cx="9007594" cy="244682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0:000&gt; lm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start    end        module name</a:t>
            </a:r>
          </a:p>
          <a:p>
            <a:pPr algn="l"/>
            <a:r>
              <a:rPr lang="en-US" altLang="zh-TW" sz="900" dirty="0" smtClean="0">
                <a:latin typeface="Courier New" pitchFamily="49" charset="0"/>
                <a:cs typeface="Courier New" pitchFamily="49" charset="0"/>
              </a:rPr>
              <a:t>…</a:t>
            </a:r>
            <a:endParaRPr lang="en-US" altLang="zh-TW" sz="9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77cf0000 77d80000   user32     (</a:t>
            </a:r>
            <a:r>
              <a:rPr lang="en-US" altLang="zh-TW" sz="900" dirty="0" err="1">
                <a:latin typeface="Courier New" pitchFamily="49" charset="0"/>
                <a:cs typeface="Courier New" pitchFamily="49" charset="0"/>
              </a:rPr>
              <a:t>pdb</a:t>
            </a:r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 symbols)          c:\windows\symbols\user32.pdb\D18A41B74E7F458CAAAC1847E2D8BF022\user32.pdb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77d80000 77e29000   advapi32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77e30000 77ec3000   rpcrt4 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77ed0000 77f19000   gdi32  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77f20000 77f96000   </a:t>
            </a:r>
            <a:r>
              <a:rPr lang="en-US" altLang="zh-TW" sz="900" dirty="0" err="1">
                <a:latin typeface="Courier New" pitchFamily="49" charset="0"/>
                <a:cs typeface="Courier New" pitchFamily="49" charset="0"/>
              </a:rPr>
              <a:t>shlwapi</a:t>
            </a:r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77fa0000 77fb1000   secur32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77fc0000 77ff2000   </a:t>
            </a:r>
            <a:r>
              <a:rPr lang="en-US" altLang="zh-TW" sz="900" dirty="0" err="1">
                <a:latin typeface="Courier New" pitchFamily="49" charset="0"/>
                <a:cs typeface="Courier New" pitchFamily="49" charset="0"/>
              </a:rPr>
              <a:t>activeds</a:t>
            </a:r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78130000 781cb000   msvcr80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782e0000 783ef000   mfc80u 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7c420000 7c4a7000   msvcp80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7c800000 7c933000   kernel32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7c940000 7c9df000   </a:t>
            </a:r>
            <a:r>
              <a:rPr lang="en-US" altLang="zh-TW" sz="900" dirty="0" err="1">
                <a:latin typeface="Courier New" pitchFamily="49" charset="0"/>
                <a:cs typeface="Courier New" pitchFamily="49" charset="0"/>
              </a:rPr>
              <a:t>ntdll</a:t>
            </a:r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      (</a:t>
            </a:r>
            <a:r>
              <a:rPr lang="en-US" altLang="zh-TW" sz="900" dirty="0" err="1">
                <a:latin typeface="Courier New" pitchFamily="49" charset="0"/>
                <a:cs typeface="Courier New" pitchFamily="49" charset="0"/>
              </a:rPr>
              <a:t>pdb</a:t>
            </a:r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 symbols)          c:\windows\symbols\ntdll.pdb\CEFC0863B1F84130A11E0F54180CD21A2\ntdll.pdb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7d5b0000 7ddb0000   shell32    (deferred)             </a:t>
            </a:r>
          </a:p>
          <a:p>
            <a:pPr algn="l"/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7e8c0000 7e971000   </a:t>
            </a:r>
            <a:r>
              <a:rPr lang="en-US" altLang="zh-TW" sz="900" dirty="0" err="1">
                <a:latin typeface="Courier New" pitchFamily="49" charset="0"/>
                <a:cs typeface="Courier New" pitchFamily="49" charset="0"/>
              </a:rPr>
              <a:t>userenv</a:t>
            </a:r>
            <a:r>
              <a:rPr lang="en-US" altLang="zh-TW" sz="900" dirty="0">
                <a:latin typeface="Courier New" pitchFamily="49" charset="0"/>
                <a:cs typeface="Courier New" pitchFamily="49" charset="0"/>
              </a:rPr>
              <a:t>    (deferred) </a:t>
            </a:r>
            <a:endParaRPr lang="zh-TW" altLang="en-US" sz="9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87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Check Binary Version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“lm”</a:t>
            </a:r>
          </a:p>
          <a:p>
            <a:pPr lvl="1"/>
            <a:r>
              <a:rPr lang="en-US" altLang="zh-TW" dirty="0" smtClean="0"/>
              <a:t>To list all loaded module</a:t>
            </a:r>
          </a:p>
          <a:p>
            <a:r>
              <a:rPr lang="en-US" altLang="zh-TW" dirty="0" smtClean="0"/>
              <a:t>“</a:t>
            </a:r>
            <a:r>
              <a:rPr lang="en-US" altLang="zh-TW" dirty="0" err="1" smtClean="0"/>
              <a:t>lmvm</a:t>
            </a:r>
            <a:r>
              <a:rPr lang="en-US" altLang="zh-TW" dirty="0" smtClean="0"/>
              <a:t> &lt;module name&gt;”</a:t>
            </a:r>
          </a:p>
          <a:p>
            <a:pPr lvl="1"/>
            <a:r>
              <a:rPr lang="en-US" altLang="zh-TW" dirty="0" smtClean="0"/>
              <a:t>To show module information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38" y="3321050"/>
            <a:ext cx="7248525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2115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Call Stack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102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Call Stack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chain of function call which leads to current execution point.</a:t>
            </a:r>
          </a:p>
          <a:p>
            <a:r>
              <a:rPr lang="en-US" altLang="zh-TW" dirty="0" smtClean="0"/>
              <a:t>Multi-thread program could have multiple call stacks at the same time.</a:t>
            </a:r>
          </a:p>
          <a:p>
            <a:r>
              <a:rPr lang="en-US" altLang="zh-TW" dirty="0" smtClean="0"/>
              <a:t>Why important?</a:t>
            </a:r>
          </a:p>
          <a:p>
            <a:pPr lvl="1"/>
            <a:r>
              <a:rPr lang="en-US" altLang="zh-TW" dirty="0" smtClean="0"/>
              <a:t>Call stack helps us identify which function lead to a crash.</a:t>
            </a:r>
          </a:p>
          <a:p>
            <a:pPr lvl="1"/>
            <a:r>
              <a:rPr lang="en-US" altLang="zh-TW" dirty="0" smtClean="0"/>
              <a:t>Call stacks also helps us identify which function blocks the execution. </a:t>
            </a:r>
            <a:r>
              <a:rPr lang="en-US" altLang="zh-TW" dirty="0" smtClean="0">
                <a:sym typeface="Wingdings" pitchFamily="2" charset="2"/>
              </a:rPr>
              <a:t> important for hang issue.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076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Watch Call Stack for A Thread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Identify which thread you are.</a:t>
            </a:r>
          </a:p>
          <a:p>
            <a:endParaRPr lang="en-US" altLang="zh-TW" dirty="0"/>
          </a:p>
          <a:p>
            <a:r>
              <a:rPr lang="en-US" altLang="zh-TW" dirty="0" smtClean="0"/>
              <a:t>Switch current thread if needed.</a:t>
            </a:r>
          </a:p>
          <a:p>
            <a:pPr lvl="1"/>
            <a:r>
              <a:rPr lang="en-US" altLang="zh-TW" dirty="0" smtClean="0"/>
              <a:t>Type “~&lt;thread no.&gt;s” to switch</a:t>
            </a:r>
          </a:p>
          <a:p>
            <a:pPr lvl="1"/>
            <a:r>
              <a:rPr lang="en-US" altLang="zh-TW" dirty="0" smtClean="0"/>
              <a:t>E.g., “~2s” means to switch to thread no.2</a:t>
            </a:r>
          </a:p>
          <a:p>
            <a:r>
              <a:rPr lang="en-US" altLang="zh-TW" dirty="0" smtClean="0"/>
              <a:t>Watch call stack</a:t>
            </a:r>
          </a:p>
          <a:p>
            <a:pPr lvl="1"/>
            <a:r>
              <a:rPr lang="en-US" altLang="zh-TW" dirty="0" smtClean="0"/>
              <a:t>Type “</a:t>
            </a:r>
            <a:r>
              <a:rPr lang="en-US" altLang="zh-TW" dirty="0" err="1" smtClean="0"/>
              <a:t>kvn</a:t>
            </a:r>
            <a:r>
              <a:rPr lang="en-US" altLang="zh-TW" dirty="0" smtClean="0"/>
              <a:t>” to watch</a:t>
            </a:r>
          </a:p>
          <a:p>
            <a:pPr lvl="1"/>
            <a:r>
              <a:rPr lang="en-US" altLang="zh-TW" dirty="0" smtClean="0"/>
              <a:t>“WARNING” as below means some debug symbol is missing. Find correct symbol first.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5122" name="Picture 2" descr="C:\Users\sean_yen\Dropbox\Private\螢幕快照 2011-09-18 下午9.36.1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993900"/>
            <a:ext cx="812800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63520" y="5283200"/>
            <a:ext cx="8366393" cy="12003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0:000&gt;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kvn</a:t>
            </a:r>
            <a:endParaRPr lang="en-US" altLang="zh-TW" sz="12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#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ChildEBP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RetAddr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to Child              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00 0012fec4 77cf91be 77cf91f1 001554b0 00000000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ntdll!KiFastSystemCallRet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(FPO: [0,0,0])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01 0012fee4 783482a9 001554b0 00000000 00000000 user32!NtUserGetMessage+0xc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WARNING: Stack unwind information not available. Following frames may be wrong.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02 00000000 00000000 00000000 00000000 00000000 mfc80u+0x682a9</a:t>
            </a:r>
            <a:endParaRPr lang="zh-TW" altLang="en-US" sz="1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3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Watch All Call Stacks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“~*k”</a:t>
            </a:r>
          </a:p>
          <a:p>
            <a:pPr lvl="1"/>
            <a:r>
              <a:rPr lang="en-US" altLang="zh-TW" dirty="0" smtClean="0"/>
              <a:t>This command is to show all call stacks at once.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485588" y="2374899"/>
            <a:ext cx="8042586" cy="403187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0:000&gt; ~*k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.  0  Id: d9c.8f4 Suspend: 0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Teb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: 7ffdd000 Unfrozen</a:t>
            </a:r>
          </a:p>
          <a:p>
            <a:pPr algn="l"/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ChildEBP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RetAddr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0012fec4 77cf91be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ntdll!KiFastSystemCallRet</a:t>
            </a:r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0012fee4 783482a9 user32!NtUserGetMessage+0xc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WARNING: Stack unwind information not available. Following frames may be wrong.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00000000 00000000 mfc80u+0x682a9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 1  Id: d9c.a88 Suspend: 0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Teb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: 7ffdc000 Unfrozen</a:t>
            </a:r>
          </a:p>
          <a:p>
            <a:pPr algn="l"/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ChildEBP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RetAddr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013cfe60 7c94df4a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ntdll!KiFastSystemCallRet</a:t>
            </a:r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013cfe64 7c809590 ntdll!ZwWaitForMultipleObjects+0xc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013cff00 7c80a115 kernel32!WaitForMultipleObjectsEx+0x12c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013cff1c 60eb1d51 kernel32!WaitForMultipleObjects+0x18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*** ERROR: Symbol file could not be found.  Defaulted to export symbols for msvcr80.dll - 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013cff74 781329bb utilDebugLog!MonitorThread+0xb1 [d:\amsp_2.0\src\framework\utility\utildebuglog\util_defaultlogwriter.cpp @ 81]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WARNING: Stack unwind information not available. Following frames may be wrong.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013cffac 78132a47 msvcr80!endthreadex+0x3b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013cffec 00000000 msvcr80!endthreadex+0xc7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 2  Id: d9c.17d0 Suspend: 0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Teb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: 7ffdb000 Unfrozen</a:t>
            </a:r>
          </a:p>
          <a:p>
            <a:pPr algn="l"/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ChildEBP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RetAddr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016bfb70 7c94df4a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ntdll!KiFastSystemCallRet</a:t>
            </a:r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016bfb74 7c809590 ntdll!ZwWaitForMultipleObjects+0xc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016bfc10 7c80a115 kernel32!WaitForMultipleObjectsEx+0x12c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016bfc2c 00403a6f kernel32!WaitForMultipleObjects+0x18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016bfe34 004043a3 uiSeAgnt!waitForStop+0x7f [d:\uniclient_2.0_win32\src\uiframework\uiseagnt\amspclientmanager.cpp @ 507]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016bffb4 7c80b729 uiSeAgnt!amspConnectFunc+0x3e3 [d:\uniclient_2.0_win32\src\uiframework\uiseagnt\amspclientmanager.cpp @ 576]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016bffec 00000000 kernel32!BaseThreadStart+0x37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 smtClean="0">
                <a:latin typeface="Courier New" pitchFamily="49" charset="0"/>
                <a:cs typeface="Courier New" pitchFamily="49" charset="0"/>
              </a:rPr>
              <a:t>…</a:t>
            </a:r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88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Watch Call Stack in Memory Dump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“!PROCESS 0 0”</a:t>
            </a:r>
          </a:p>
          <a:p>
            <a:pPr lvl="1"/>
            <a:r>
              <a:rPr lang="en-US" altLang="zh-TW" dirty="0" smtClean="0"/>
              <a:t>To list all processes</a:t>
            </a:r>
          </a:p>
          <a:p>
            <a:r>
              <a:rPr lang="en-US" altLang="zh-TW" dirty="0" smtClean="0"/>
              <a:t>“!PROCESS 0 7”</a:t>
            </a:r>
          </a:p>
          <a:p>
            <a:pPr lvl="1"/>
            <a:r>
              <a:rPr lang="en-US" altLang="zh-TW" dirty="0" smtClean="0"/>
              <a:t>To list all processes with kernel call stack</a:t>
            </a:r>
          </a:p>
          <a:p>
            <a:r>
              <a:rPr lang="en-US" altLang="zh-TW" dirty="0" smtClean="0"/>
              <a:t>How to see call stacks for one process</a:t>
            </a:r>
          </a:p>
          <a:p>
            <a:pPr lvl="1"/>
            <a:r>
              <a:rPr lang="en-US" altLang="zh-TW" dirty="0" smtClean="0"/>
              <a:t>“!PROCESS 0 0”</a:t>
            </a:r>
          </a:p>
          <a:p>
            <a:pPr lvl="1"/>
            <a:r>
              <a:rPr lang="en-US" altLang="zh-TW" dirty="0" smtClean="0"/>
              <a:t>“.PROCESS </a:t>
            </a:r>
            <a:r>
              <a:rPr lang="en-US" altLang="zh-TW" dirty="0" err="1" smtClean="0"/>
              <a:t>xxxxxxxx</a:t>
            </a:r>
            <a:r>
              <a:rPr lang="en-US" altLang="zh-TW" dirty="0" smtClean="0"/>
              <a:t>”</a:t>
            </a:r>
          </a:p>
          <a:p>
            <a:pPr lvl="1"/>
            <a:r>
              <a:rPr lang="en-US" altLang="zh-TW" dirty="0" smtClean="0"/>
              <a:t>“.RELOAD”</a:t>
            </a:r>
          </a:p>
          <a:p>
            <a:pPr lvl="1"/>
            <a:r>
              <a:rPr lang="en-US" altLang="zh-TW" dirty="0" smtClean="0"/>
              <a:t>“!PROCESS </a:t>
            </a:r>
            <a:r>
              <a:rPr lang="en-US" altLang="zh-TW" dirty="0" err="1" smtClean="0"/>
              <a:t>xxxxxxxx</a:t>
            </a:r>
            <a:r>
              <a:rPr lang="en-US" altLang="zh-TW" dirty="0" smtClean="0"/>
              <a:t> 7”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5464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More on Call Stack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However, it’s inefficient to read every call stack one by one to find the problem.</a:t>
            </a:r>
          </a:p>
          <a:p>
            <a:r>
              <a:rPr lang="en-US" altLang="zh-TW" dirty="0" smtClean="0"/>
              <a:t>Luckily, </a:t>
            </a:r>
            <a:r>
              <a:rPr lang="en-US" altLang="zh-TW" dirty="0" err="1" smtClean="0"/>
              <a:t>WinDbg</a:t>
            </a:r>
            <a:r>
              <a:rPr lang="en-US" altLang="zh-TW" dirty="0" smtClean="0"/>
              <a:t> provides a wizard command to automate dump analysis.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567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!Analyze -v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3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Result from !</a:t>
            </a:r>
            <a:r>
              <a:rPr lang="en-US" altLang="zh-TW" dirty="0" err="1" smtClean="0"/>
              <a:t>Anayze</a:t>
            </a:r>
            <a:r>
              <a:rPr lang="en-US" altLang="zh-TW" dirty="0" smtClean="0"/>
              <a:t> –v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712201" y="1470956"/>
            <a:ext cx="7738016" cy="526297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0:003&gt; !analyze -v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*******************************************************************************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*                                                                             *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*                        Exception Analysis                                   *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*                                                                             *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*******************************************************************************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FAULTING_IP: </a:t>
            </a:r>
          </a:p>
          <a:p>
            <a:pPr algn="l"/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ntdll!RtlpWaitOnCriticalSection+ba</a:t>
            </a:r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00000000`776ff7fa 83402401        add    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dword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[rax+24h],1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EXCEPTION_RECORD: 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ffffffffffffffff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-- (.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exr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0xffffffffffffffff)</a:t>
            </a:r>
          </a:p>
          <a:p>
            <a:pPr algn="l"/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ExceptionAddress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: 00000000776ff7fa (ntdll!RtlpWaitOnCriticalSection+0x00000000000000ba)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ExceptionCode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: c0000005 (Access violation)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ExceptionFlags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: 00000000</a:t>
            </a:r>
          </a:p>
          <a:p>
            <a:pPr algn="l"/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NumberParameters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: 2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 Parameter[0]: 0000000000000001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 Parameter[1]: 0000000000000024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Attempt to write to address 0000000000000024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PROCESS_NAME:  coreServiceShell.exe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ERROR_CODE: (NTSTATUS) 0xc0000005 - The instruction at 0x%08lx referenced memory at 0x%08lx. The memory could not be %s.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EXCEPTION_CODE: (NTSTATUS) 0xc0000005 - The instruction at 0x%08lx referenced memory at 0x%08lx. The memory could not be %s.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EXCEPTION_PARAMETER1:  0000000000000001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EXCEPTION_PARAMETER2:  0000000000000024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WRITE_ADDRESS:  0000000000000024 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FOLLOWUP_IP: 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tmncieco!TM_NS_PurgeOldPatternW+375 [d:\ncie_1.0\src\wrapper\minitda\coordinator\coordinator.cpp @ 992]</a:t>
            </a: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000007fe`fbe42b95 488b5c2468     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mov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rbx,qword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TW" sz="8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 [rsp+68h]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NTGLOBALFLAG:  0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APPLICATION_VERIFIER_FLAGS:  0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800" dirty="0">
                <a:latin typeface="Courier New" pitchFamily="49" charset="0"/>
                <a:cs typeface="Courier New" pitchFamily="49" charset="0"/>
              </a:rPr>
              <a:t>FAULTING_THREAD:  0000000000000e20</a:t>
            </a:r>
          </a:p>
          <a:p>
            <a:pPr algn="l"/>
            <a:endParaRPr lang="en-US" altLang="zh-TW" sz="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40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 Result from !</a:t>
            </a:r>
            <a:r>
              <a:rPr lang="en-US" altLang="zh-TW" dirty="0" err="1" smtClean="0"/>
              <a:t>Anayze</a:t>
            </a:r>
            <a:r>
              <a:rPr lang="en-US" altLang="zh-TW" dirty="0" smtClean="0"/>
              <a:t> –v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445501" y="2119779"/>
            <a:ext cx="8438529" cy="335476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400" dirty="0" smtClean="0">
                <a:latin typeface="Courier New" pitchFamily="49" charset="0"/>
                <a:cs typeface="Courier New" pitchFamily="49" charset="0"/>
              </a:rPr>
              <a:t>BUGCHECK_STR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:  APPLICATION_FAULT_NULL_CLASS_PTR_DEREFERENCE_INVALID_POINTER_WRITE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PRIMARY_PROBLEM_CLASS:  NULL_CLASS_PTR_DEREFERENCE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DEFAULT_BUCKET_ID:  NULL_CLASS_PTR_DEREFERENCE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LAST_CONTROL_TRANSFER:  from 00000000776ff718 to 00000000776ff7fa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STACK_TEXT:  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00000000`02e9db70 00000000`776ff718 : ffffffff`00000000 00000000`00000000 00000000`2bc4d904 00000000`003cbb10 : ntdll!RtlpWaitOnCriticalSection+0xba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00000000`02e9dc20 00000000`775c5e16 : 00000000`003cbaf0 00000000`00000003 00000000`003cbaf0 00000000`00000003 : ntdll!RtlEnterCriticalSection+0xf4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00000000`02e9dc50 000007fe`fbe42b95 : 00000000`003f10b0 00000000`00000000 00000000`00000003 00000000`04eebba8 : kernel32!FindClose+0x36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00000000`02e9dc80 000007fe`fbe43575 : 00000000`2bacc620 00000000`2bacc648 00000000`02e9dfe0 00000000`2bacc620 : tmncieco!TM_NS_PurgeOldPatternW+0x375 [d:\ncie_1.0\src\wrapper\minitda\coordinator\coordinator.cpp @ 992]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00000000`02e9dfb0 000007fe`f888a2a4 : 00000000`000008ac 00000000`00000000 00000000`00000000 00000000`04d9f1c0 : tmncieco!tm_ncieco_LoadScanPattern+0x415 [d:\ncie_1.0\src\wrapper\minitda\coordinator\coordinator.cpp @ 1113]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00000000`02e9e0d0 000007fe`f8881836 : 00000000`20ff0000 00000000`00000048 00000000`02e9e1b0 00000000`00000000 :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plugAdapterNCIE!CNcieAdapter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::Init+0x274 [d:\ncie_1.0\src\wrapper\minitda\adapter\ncieadapter.cpp @ 363]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00000000`02e9e170 00000000`60232f0f : 00000000`02e9e6f8 00000000`022fabe8 00000000`022f9380 00000000`60274eae : plugAdapterNCIE!Plugin_Interface_PostInitialize+0x1c6 [d:\ncie_1.0\src\wrapper\minitda\adapter\adapter.cpp @ 90]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00000000`02e9e230 00000000`60224827 : 00000000`00000000 00000000`00009748 00000000`00000067 000001f9`00f20001 :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coreFrameworkBuilder!CPluginInterfaceOrganizer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::SwitchInterface+0x2a2f [d:\amsp_2.0\src\framework\utility\utilcommonplugin\plugininterfaceorganizer.cpp @ 1232]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00000000`02e9f560 00000000`602234ea : 00000000`60221120 00000000`20ff0000 00000000`026c1fe0 00000000`20ff0000 :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coreFrameworkBuilder!CFrameworkBuilder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::InitAsDetectionMode+0x1197 [d:\amsp_2.0\src\framework\core\coreframeworkbuilder\frameworkbuilder.cpp @ 439]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00000000`02e9fb10 00000001`400050ee : 00000000`000001ac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00000000`000001ac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 00000000`e0ff0005 00000000`60221120 :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coreFrameworkBuilder!CFrameworkBuilder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::OnNotify+0xda [d:\amsp_2.0\src\framework\core\coreframeworkbuilder\frameworkbuilder.cpp @ 234]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00000000`02e9fb90 00000001`40008d4c : 00000000`00000052 00000001`4002f950 00000000`00000000 00000001`4002f950 : coreServiceShell!InitFramework+0x7de [d:\amsp_2.0\src\framework\core\coreserviceshell\service_main.cpp @ 627]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00000000`02e9fd40 00000000`74ce37d7 : 00000000`026c3ab0 00000000`00000000 00000000`00000000 00000000`00000000 : coreServiceShell!CreateFramework+0xb1c [d:\amsp_2.0\src\framework\core\coreserviceshell\service_main.cpp @ 1422]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00000000`02e9ff00 00000000`74ce3894 : 00000000`74d995c0 00000000`026c3ab0 00000000`00000000 00000000`00000000 : msvcr80!_callthreadstartex+0x17 [f:\dd\vctools\crt_bld\self_64_amd64\crt\src\threadex.c @ 348]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00000000`02e9ff30 00000000`775d495d : 00000000`00000000 00000000`00000000 00000000`00000000 00000000`00000000 : msvcr80!_threadstartex+0x84 [f:\dd\vctools\crt_bld\self_64_amd64\crt\src\threadex.c @ 326]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00000000`02e9ff60 00000000`77708791 : 00000000`00000000 00000000`00000000 00000000`00000000 00000000`00000000 : kernel32!BaseThreadInitThunk+0xd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00000000`02e9ff90 00000000`00000000 : 00000000`00000000 00000000`00000000 00000000`00000000 00000000`00000000 : ntdll!RtlUserThreadStart+0x1d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STACK_COMMAND:  kb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FAULTING_SOURCE_CODE:  </a:t>
            </a: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No source found for 'd:\ncie_1.0\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\wrapper\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minitda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\coordinator\coordinator.cpp'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SYMBOL_STACK_INDEX:  3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SYMBOL_NAME:  tmncieco!TM_NS_PurgeOldPatternW+375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FOLLOWUP_NAME: 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MachineOwner</a:t>
            </a:r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MODULE_NAME: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tmncieco</a:t>
            </a:r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IMAGE_NAME:  tmncieco.dll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DEBUG_FLR_IMAGE_TIMESTAMP:  4dd11a26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FAILURE_BUCKET_ID:  NULL_CLASS_PTR_DEREFERENCE_c0000005_tmncieco.dll!TM_NS_PurgeOldPatternW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BUCKET_ID:  X64_APPLICATION_FAULT_NULL_CLASS_PTR_DEREFERENCE_INVALID_POINTER_WRITE_tmncieco!TM_NS_PurgeOldPatternW+375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WATSON_STAGEONE_URL:  http://watson.microsoft.com/StageOne/coreServiceShell_exe/2_0_0_1230/4de8fdb2/ntdll_dll/6_0_6001_18000/4791adec/c0000005/0001f7fa.htm?Retriage=1</a:t>
            </a:r>
          </a:p>
          <a:p>
            <a:pPr algn="l"/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Followup</a:t>
            </a:r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altLang="zh-TW" sz="400" dirty="0" err="1">
                <a:latin typeface="Courier New" pitchFamily="49" charset="0"/>
                <a:cs typeface="Courier New" pitchFamily="49" charset="0"/>
              </a:rPr>
              <a:t>MachineOwner</a:t>
            </a:r>
            <a:endParaRPr lang="en-US" altLang="zh-TW" sz="4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400" dirty="0">
                <a:latin typeface="Courier New" pitchFamily="49" charset="0"/>
                <a:cs typeface="Courier New" pitchFamily="49" charset="0"/>
              </a:rPr>
              <a:t>---------</a:t>
            </a:r>
            <a:endParaRPr lang="zh-TW" altLang="en-US" sz="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3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Something Before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Understand the issue first.</a:t>
            </a:r>
          </a:p>
          <a:p>
            <a:pPr lvl="1"/>
            <a:r>
              <a:rPr lang="en-US" altLang="zh-TW" dirty="0" smtClean="0"/>
              <a:t>From a crash?</a:t>
            </a:r>
          </a:p>
          <a:p>
            <a:pPr lvl="1"/>
            <a:r>
              <a:rPr lang="en-US" altLang="zh-TW" dirty="0" smtClean="0"/>
              <a:t>From a hang?</a:t>
            </a:r>
          </a:p>
          <a:p>
            <a:pPr lvl="1"/>
            <a:r>
              <a:rPr lang="en-US" altLang="zh-TW" dirty="0" smtClean="0"/>
              <a:t>Better to know the full story before analyzing.</a:t>
            </a:r>
          </a:p>
          <a:p>
            <a:r>
              <a:rPr lang="en-US" altLang="zh-TW" dirty="0" smtClean="0"/>
              <a:t>It’s not silver bullet.</a:t>
            </a:r>
          </a:p>
          <a:p>
            <a:pPr lvl="1"/>
            <a:r>
              <a:rPr lang="en-US" altLang="zh-TW" dirty="0" smtClean="0"/>
              <a:t>Better to have debug log to help you interpret the dump analysis.</a:t>
            </a:r>
          </a:p>
          <a:p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17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Read Analysis Report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Find </a:t>
            </a:r>
            <a:r>
              <a:rPr lang="en-US" altLang="zh-TW" dirty="0" err="1" smtClean="0"/>
              <a:t>ExceptionCode</a:t>
            </a:r>
            <a:r>
              <a:rPr lang="en-US" altLang="zh-TW" dirty="0" smtClean="0"/>
              <a:t> first.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Common </a:t>
            </a:r>
            <a:r>
              <a:rPr lang="en-US" altLang="zh-TW" dirty="0" err="1" smtClean="0"/>
              <a:t>ExceptionCode</a:t>
            </a:r>
            <a:endParaRPr lang="en-US" altLang="zh-TW" dirty="0" smtClean="0"/>
          </a:p>
          <a:p>
            <a:pPr lvl="1"/>
            <a:r>
              <a:rPr lang="en-US" altLang="zh-TW" dirty="0"/>
              <a:t>80000003 (Break instruction exception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The dump is created manually.</a:t>
            </a:r>
          </a:p>
          <a:p>
            <a:pPr lvl="2"/>
            <a:r>
              <a:rPr lang="en-US" altLang="zh-TW" dirty="0" smtClean="0"/>
              <a:t>You should analyze the call stack by yourself.</a:t>
            </a:r>
            <a:endParaRPr lang="en-US" altLang="zh-TW" dirty="0"/>
          </a:p>
          <a:p>
            <a:pPr lvl="1"/>
            <a:r>
              <a:rPr lang="en-US" altLang="zh-TW" dirty="0"/>
              <a:t>c0000005 (Access violation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The dump is created from a crash.</a:t>
            </a:r>
            <a:endParaRPr lang="en-US" altLang="zh-TW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485474" y="2044004"/>
            <a:ext cx="8273419" cy="1384995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ExceptionAddress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 00000000776ff7fa (ntdll!RtlpWaitOnCriticalSection+0x00000000000000ba)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ExceptionCode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 c0000005 (Access violation)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ExceptionFlags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 00000000</a:t>
            </a:r>
          </a:p>
          <a:p>
            <a:pPr algn="l"/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NumberParameters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 2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  Parameter[0]: 0000000000000001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   Parameter[1]: 0000000000000024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Attempt to write to address 0000000000000024</a:t>
            </a:r>
            <a:endParaRPr lang="zh-TW" altLang="en-US" sz="1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38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Read Analysis Report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Call Stack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From top to down, identify the first module belong to us.</a:t>
            </a:r>
          </a:p>
          <a:p>
            <a:pPr lvl="1"/>
            <a:r>
              <a:rPr lang="en-US" altLang="zh-TW" dirty="0" smtClean="0"/>
              <a:t>Then, pass this report to the module owner.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747239" y="2006600"/>
            <a:ext cx="6692858" cy="304698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ntdll!RtlpWaitOnCriticalSection+0xba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ntdll!RtlEnterCriticalSection+0xf4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kernel32!FindClose+0x36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tmncieco!TM_NS_PurgeOldPatternW+0x375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tmncieco!tm_ncieco_LoadScanPattern+0x415</a:t>
            </a:r>
          </a:p>
          <a:p>
            <a:pPr algn="l"/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plugAdapterNCIE!CNcieAdapter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::Init+0x274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plugAdapterNCIE!Plugin_Interface_PostInitialize+0x1c6</a:t>
            </a:r>
          </a:p>
          <a:p>
            <a:pPr algn="l"/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coreFrameworkBuilder!CPluginInterfaceOrganizer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::SwitchInterface+0x2a2f</a:t>
            </a:r>
          </a:p>
          <a:p>
            <a:pPr algn="l"/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coreFrameworkBuilder!CFrameworkBuilder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::InitAsDetectionMode+0x1197</a:t>
            </a:r>
          </a:p>
          <a:p>
            <a:pPr algn="l"/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coreFrameworkBuilder!CFrameworkBuilder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::OnNotify+0xda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coreServiceShell!InitFramework+0x7de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coreServiceShell!CreateFramework+0xb1c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msvcr80!_callthreadstartex+0x17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msvcr80!_threadstartex+0x84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kernel32!BaseThreadInitThunk+0xd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ntdll!RtlUserThreadStart+0x1d</a:t>
            </a:r>
            <a:endParaRPr lang="zh-TW" alt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向下箭號 6"/>
          <p:cNvSpPr/>
          <p:nvPr/>
        </p:nvSpPr>
        <p:spPr bwMode="auto">
          <a:xfrm>
            <a:off x="241300" y="2120900"/>
            <a:ext cx="317500" cy="2794000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Read Analysis Report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Heap Corruption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It’s a special </a:t>
            </a:r>
            <a:r>
              <a:rPr lang="en-US" altLang="zh-TW" dirty="0"/>
              <a:t>c</a:t>
            </a:r>
            <a:r>
              <a:rPr lang="en-US" altLang="zh-TW" dirty="0" smtClean="0"/>
              <a:t>ase</a:t>
            </a:r>
          </a:p>
          <a:p>
            <a:pPr lvl="1"/>
            <a:r>
              <a:rPr lang="en-US" altLang="zh-TW" dirty="0" smtClean="0"/>
              <a:t>Don’t trust the call stack.</a:t>
            </a:r>
          </a:p>
          <a:p>
            <a:pPr lvl="1"/>
            <a:r>
              <a:rPr lang="en-US" altLang="zh-TW" dirty="0" smtClean="0"/>
              <a:t>Enable page heap and </a:t>
            </a:r>
            <a:r>
              <a:rPr lang="en-US" altLang="zh-TW" dirty="0" err="1" smtClean="0"/>
              <a:t>appverifier</a:t>
            </a:r>
            <a:r>
              <a:rPr lang="en-US" altLang="zh-TW" dirty="0" smtClean="0"/>
              <a:t> to reproduce again.</a:t>
            </a:r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558800" y="2019300"/>
            <a:ext cx="7915950" cy="9387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1100" dirty="0">
                <a:latin typeface="Courier New" pitchFamily="49" charset="0"/>
                <a:cs typeface="Courier New" pitchFamily="49" charset="0"/>
              </a:rPr>
              <a:t>ADDITIONAL_DEBUG_TEXT:  Enable </a:t>
            </a:r>
            <a:r>
              <a:rPr lang="en-US" altLang="zh-TW" sz="1100" dirty="0" err="1" smtClean="0">
                <a:latin typeface="Courier New" pitchFamily="49" charset="0"/>
                <a:cs typeface="Courier New" pitchFamily="49" charset="0"/>
              </a:rPr>
              <a:t>Pageheap</a:t>
            </a:r>
            <a:r>
              <a:rPr lang="en-US" altLang="zh-TW" sz="1100" dirty="0" smtClean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altLang="zh-TW" sz="1100" dirty="0" err="1" smtClean="0">
                <a:latin typeface="Courier New" pitchFamily="49" charset="0"/>
                <a:cs typeface="Courier New" pitchFamily="49" charset="0"/>
              </a:rPr>
              <a:t>AutoVerifer</a:t>
            </a:r>
            <a:endParaRPr lang="en-US" altLang="zh-TW" sz="11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1100" dirty="0">
                <a:latin typeface="Courier New" pitchFamily="49" charset="0"/>
                <a:cs typeface="Courier New" pitchFamily="49" charset="0"/>
              </a:rPr>
              <a:t>FAULTING_THREAD:  </a:t>
            </a:r>
            <a:r>
              <a:rPr lang="en-US" altLang="zh-TW" sz="1100" dirty="0" smtClean="0">
                <a:latin typeface="Courier New" pitchFamily="49" charset="0"/>
                <a:cs typeface="Courier New" pitchFamily="49" charset="0"/>
              </a:rPr>
              <a:t>0000000000000d68</a:t>
            </a:r>
            <a:endParaRPr lang="en-US" altLang="zh-TW" sz="11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1100" dirty="0">
                <a:latin typeface="Courier New" pitchFamily="49" charset="0"/>
                <a:cs typeface="Courier New" pitchFamily="49" charset="0"/>
              </a:rPr>
              <a:t>BUGCHECK_STR:  </a:t>
            </a:r>
            <a:r>
              <a:rPr lang="en-US" altLang="zh-TW" sz="1100" dirty="0" smtClean="0">
                <a:latin typeface="Courier New" pitchFamily="49" charset="0"/>
                <a:cs typeface="Courier New" pitchFamily="49" charset="0"/>
              </a:rPr>
              <a:t>APPLICATION_FAULT_HEAP_CORRUPTION_INVALID_POINTER_READ_FILL_PATTERN_ffffffff</a:t>
            </a:r>
            <a:endParaRPr lang="en-US" altLang="zh-TW" sz="11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1100" dirty="0">
                <a:latin typeface="Courier New" pitchFamily="49" charset="0"/>
                <a:cs typeface="Courier New" pitchFamily="49" charset="0"/>
              </a:rPr>
              <a:t>PRIMARY_PROBLEM_CLASS:  </a:t>
            </a:r>
            <a:r>
              <a:rPr lang="en-US" altLang="zh-TW" sz="1100" dirty="0" err="1" smtClean="0">
                <a:latin typeface="Courier New" pitchFamily="49" charset="0"/>
                <a:cs typeface="Courier New" pitchFamily="49" charset="0"/>
              </a:rPr>
              <a:t>HEAP_CORRUPTION_FILL_PATTERN_ffffffff</a:t>
            </a:r>
            <a:endParaRPr lang="en-US" altLang="zh-TW" sz="11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1100" dirty="0">
                <a:latin typeface="Courier New" pitchFamily="49" charset="0"/>
                <a:cs typeface="Courier New" pitchFamily="49" charset="0"/>
              </a:rPr>
              <a:t>DEFAULT_BUCKET_ID:  </a:t>
            </a:r>
            <a:r>
              <a:rPr lang="en-US" altLang="zh-TW" sz="1100" dirty="0" err="1">
                <a:latin typeface="Courier New" pitchFamily="49" charset="0"/>
                <a:cs typeface="Courier New" pitchFamily="49" charset="0"/>
              </a:rPr>
              <a:t>HEAP_CORRUPTION_FILL_PATTERN_ffffffff</a:t>
            </a:r>
            <a:endParaRPr lang="zh-TW" altLang="en-US" sz="11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1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Enable Page Heap and App Verifier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Run Gflags.exe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59" y="2043113"/>
            <a:ext cx="189547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00" y="1547813"/>
            <a:ext cx="4251423" cy="438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向右箭號 5"/>
          <p:cNvSpPr/>
          <p:nvPr/>
        </p:nvSpPr>
        <p:spPr bwMode="auto">
          <a:xfrm>
            <a:off x="2247900" y="2413000"/>
            <a:ext cx="1384300" cy="2794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88673" y="4851400"/>
            <a:ext cx="2215671" cy="3385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Restart the Program</a:t>
            </a:r>
            <a:endParaRPr lang="zh-TW" altLang="en-US" dirty="0"/>
          </a:p>
        </p:txBody>
      </p:sp>
      <p:sp>
        <p:nvSpPr>
          <p:cNvPr id="10" name="向右箭號 9"/>
          <p:cNvSpPr/>
          <p:nvPr/>
        </p:nvSpPr>
        <p:spPr bwMode="auto">
          <a:xfrm rot="10800000">
            <a:off x="2738434" y="4851400"/>
            <a:ext cx="893766" cy="2794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798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Read Analysis Report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1775" lvl="1" indent="-231775">
              <a:spcBef>
                <a:spcPct val="50000"/>
              </a:spcBef>
              <a:buFontTx/>
              <a:buChar char="•"/>
            </a:pPr>
            <a:r>
              <a:rPr lang="en-US" altLang="zh-TW" dirty="0" smtClean="0"/>
              <a:t>What if </a:t>
            </a:r>
            <a:r>
              <a:rPr lang="en-US" altLang="zh-TW" dirty="0"/>
              <a:t>80000003 (Break instruction exception</a:t>
            </a:r>
            <a:r>
              <a:rPr lang="en-US" altLang="zh-TW" dirty="0" smtClean="0"/>
              <a:t>)?</a:t>
            </a:r>
          </a:p>
          <a:p>
            <a:pPr marL="517525" lvl="2" indent="-231775">
              <a:spcBef>
                <a:spcPct val="50000"/>
              </a:spcBef>
            </a:pPr>
            <a:r>
              <a:rPr lang="en-US" altLang="zh-TW" dirty="0" smtClean="0"/>
              <a:t>Is hang issue?</a:t>
            </a:r>
          </a:p>
          <a:p>
            <a:pPr marL="803275" lvl="3" indent="-231775">
              <a:spcBef>
                <a:spcPct val="50000"/>
              </a:spcBef>
            </a:pPr>
            <a:r>
              <a:rPr lang="en-US" altLang="zh-TW" dirty="0" smtClean="0"/>
              <a:t>So far there is no magic, use “~*k” to watch all call stacks.</a:t>
            </a:r>
          </a:p>
          <a:p>
            <a:pPr marL="517525" lvl="2" indent="-231775">
              <a:spcBef>
                <a:spcPct val="50000"/>
              </a:spcBef>
            </a:pPr>
            <a:r>
              <a:rPr lang="en-US" altLang="zh-TW" dirty="0" smtClean="0"/>
              <a:t>Is crash issue?</a:t>
            </a:r>
          </a:p>
          <a:p>
            <a:pPr marL="803275" lvl="3" indent="-231775">
              <a:spcBef>
                <a:spcPct val="50000"/>
              </a:spcBef>
            </a:pPr>
            <a:r>
              <a:rPr lang="en-US" altLang="zh-TW" dirty="0" smtClean="0"/>
              <a:t>Use “!</a:t>
            </a:r>
            <a:r>
              <a:rPr lang="en-US" altLang="zh-TW" dirty="0" err="1" smtClean="0"/>
              <a:t>findstack</a:t>
            </a:r>
            <a:r>
              <a:rPr lang="en-US" altLang="zh-TW" dirty="0" smtClean="0"/>
              <a:t>” to identify the crash point.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3595688"/>
            <a:ext cx="6162675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6256871" y="5228223"/>
            <a:ext cx="2504596" cy="338554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Abnormal Control Flow</a:t>
            </a:r>
            <a:endParaRPr lang="zh-TW" altLang="en-US" dirty="0"/>
          </a:p>
        </p:txBody>
      </p:sp>
      <p:sp>
        <p:nvSpPr>
          <p:cNvPr id="7" name="向右箭號 6"/>
          <p:cNvSpPr/>
          <p:nvPr/>
        </p:nvSpPr>
        <p:spPr bwMode="auto">
          <a:xfrm>
            <a:off x="4330700" y="5346700"/>
            <a:ext cx="1816100" cy="10001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1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</a:t>
            </a:r>
            <a:r>
              <a:rPr lang="en-US" altLang="zh-TW" dirty="0" err="1" smtClean="0"/>
              <a:t>WinDbg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Useful Information While Opening a Dump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“!</a:t>
            </a:r>
            <a:r>
              <a:rPr lang="en-US" altLang="zh-TW" dirty="0" err="1" smtClean="0"/>
              <a:t>peb</a:t>
            </a:r>
            <a:r>
              <a:rPr lang="en-US" altLang="zh-TW" dirty="0" smtClean="0"/>
              <a:t>”</a:t>
            </a:r>
          </a:p>
          <a:p>
            <a:pPr lvl="1"/>
            <a:r>
              <a:rPr lang="en-US" altLang="zh-TW" dirty="0" smtClean="0"/>
              <a:t>Environment variables</a:t>
            </a:r>
          </a:p>
          <a:p>
            <a:pPr lvl="1"/>
            <a:r>
              <a:rPr lang="en-US" altLang="zh-TW" dirty="0" smtClean="0"/>
              <a:t>DLL loaded list</a:t>
            </a:r>
          </a:p>
          <a:p>
            <a:pPr lvl="1"/>
            <a:r>
              <a:rPr lang="en-US" altLang="zh-TW" dirty="0" smtClean="0"/>
              <a:t>DLL search path</a:t>
            </a:r>
          </a:p>
          <a:p>
            <a:pPr lvl="1"/>
            <a:r>
              <a:rPr lang="en-US" altLang="zh-TW" dirty="0" smtClean="0"/>
              <a:t>Command Line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6" name="文字方塊 5"/>
          <p:cNvSpPr txBox="1"/>
          <p:nvPr/>
        </p:nvSpPr>
        <p:spPr>
          <a:xfrm>
            <a:off x="668382" y="2044700"/>
            <a:ext cx="6042039" cy="12003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Windows XP Version 2600 (Service Pack 3) UP Free x86 compatible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Product: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WinNt</a:t>
            </a:r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, suite: </a:t>
            </a:r>
            <a:r>
              <a:rPr lang="en-US" altLang="zh-TW" sz="1200" dirty="0" err="1">
                <a:latin typeface="Courier New" pitchFamily="49" charset="0"/>
                <a:cs typeface="Courier New" pitchFamily="49" charset="0"/>
              </a:rPr>
              <a:t>SingleUserTS</a:t>
            </a:r>
            <a:endParaRPr lang="en-US" altLang="zh-TW" sz="1200" dirty="0">
              <a:latin typeface="Courier New" pitchFamily="49" charset="0"/>
              <a:cs typeface="Courier New" pitchFamily="49" charset="0"/>
            </a:endParaRP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Machine Name: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Debug session time: Fri Aug 12 10:56:38.000 2011 (GMT+8)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System Uptime: 0 days 21:20:08.531</a:t>
            </a:r>
          </a:p>
          <a:p>
            <a:pPr algn="l"/>
            <a:r>
              <a:rPr lang="en-US" altLang="zh-TW" sz="1200" dirty="0">
                <a:latin typeface="Courier New" pitchFamily="49" charset="0"/>
                <a:cs typeface="Courier New" pitchFamily="49" charset="0"/>
              </a:rPr>
              <a:t>Process Uptime: 0 days 0:00:36.000</a:t>
            </a:r>
            <a:endParaRPr lang="zh-TW" altLang="en-US" sz="1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66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Tips for </a:t>
            </a:r>
            <a:r>
              <a:rPr lang="en-US" altLang="zh-TW" dirty="0" err="1" smtClean="0"/>
              <a:t>WinDbg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8151" y="1543050"/>
            <a:ext cx="5149850" cy="5124450"/>
          </a:xfrm>
        </p:spPr>
        <p:txBody>
          <a:bodyPr/>
          <a:lstStyle/>
          <a:p>
            <a:r>
              <a:rPr lang="en-US" altLang="zh-TW" dirty="0" smtClean="0"/>
              <a:t>“!</a:t>
            </a:r>
            <a:r>
              <a:rPr lang="en-US" altLang="zh-TW" dirty="0" err="1" smtClean="0"/>
              <a:t>teb</a:t>
            </a:r>
            <a:r>
              <a:rPr lang="en-US" altLang="zh-TW" dirty="0" smtClean="0"/>
              <a:t>”</a:t>
            </a:r>
          </a:p>
          <a:p>
            <a:pPr lvl="1"/>
            <a:r>
              <a:rPr lang="en-US" altLang="zh-TW" dirty="0" smtClean="0"/>
              <a:t>Thread stack address</a:t>
            </a:r>
          </a:p>
          <a:p>
            <a:pPr lvl="1"/>
            <a:r>
              <a:rPr lang="en-US" altLang="zh-TW" dirty="0" smtClean="0"/>
              <a:t>Last error</a:t>
            </a:r>
          </a:p>
          <a:p>
            <a:pPr lvl="1"/>
            <a:r>
              <a:rPr lang="en-US" altLang="zh-TW" dirty="0" smtClean="0"/>
              <a:t>Exception list</a:t>
            </a:r>
          </a:p>
          <a:p>
            <a:r>
              <a:rPr lang="en-US" altLang="zh-TW" dirty="0" smtClean="0"/>
              <a:t>“</a:t>
            </a:r>
            <a:r>
              <a:rPr lang="en-US" altLang="zh-TW" dirty="0" err="1" smtClean="0"/>
              <a:t>dps</a:t>
            </a:r>
            <a:r>
              <a:rPr lang="en-US" altLang="zh-TW" dirty="0" smtClean="0"/>
              <a:t>”</a:t>
            </a:r>
          </a:p>
          <a:p>
            <a:pPr lvl="1"/>
            <a:r>
              <a:rPr lang="en-US" altLang="zh-TW" dirty="0" smtClean="0"/>
              <a:t>To investigate raw data in thread stack</a:t>
            </a:r>
          </a:p>
          <a:p>
            <a:pPr lvl="1"/>
            <a:r>
              <a:rPr lang="en-US" altLang="zh-TW" dirty="0" smtClean="0"/>
              <a:t>Useful for corrupted call stack or abnormal control flow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Require advanced knowledge for CPU calling convention.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758" y="3357699"/>
            <a:ext cx="3305786" cy="2712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39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Dump Type</a:t>
            </a:r>
          </a:p>
          <a:p>
            <a:pPr lvl="1"/>
            <a:r>
              <a:rPr lang="en-US" altLang="zh-TW" dirty="0" smtClean="0"/>
              <a:t>Complete Memory Dump</a:t>
            </a:r>
          </a:p>
          <a:p>
            <a:pPr lvl="1"/>
            <a:r>
              <a:rPr lang="en-US" altLang="zh-TW" dirty="0" smtClean="0"/>
              <a:t>Kernel Memory Dump</a:t>
            </a:r>
          </a:p>
          <a:p>
            <a:pPr lvl="1"/>
            <a:r>
              <a:rPr lang="en-US" altLang="zh-TW" dirty="0" smtClean="0"/>
              <a:t>64-kb </a:t>
            </a:r>
            <a:r>
              <a:rPr lang="en-US" altLang="zh-TW" dirty="0"/>
              <a:t>M</a:t>
            </a:r>
            <a:r>
              <a:rPr lang="en-US" altLang="zh-TW" dirty="0" smtClean="0"/>
              <a:t>emory Dump</a:t>
            </a:r>
          </a:p>
          <a:p>
            <a:pPr lvl="1"/>
            <a:r>
              <a:rPr lang="en-US" altLang="zh-TW" dirty="0" smtClean="0"/>
              <a:t>Mini Dump</a:t>
            </a:r>
          </a:p>
          <a:p>
            <a:pPr lvl="1"/>
            <a:r>
              <a:rPr lang="en-US" altLang="zh-TW" dirty="0" smtClean="0"/>
              <a:t>Full User-mode Dump</a:t>
            </a:r>
          </a:p>
          <a:p>
            <a:r>
              <a:rPr lang="en-US" altLang="zh-TW" dirty="0" smtClean="0"/>
              <a:t>Debug Symbol</a:t>
            </a:r>
          </a:p>
          <a:p>
            <a:r>
              <a:rPr lang="en-US" altLang="zh-TW" dirty="0" smtClean="0"/>
              <a:t>Call Stack</a:t>
            </a:r>
          </a:p>
          <a:p>
            <a:r>
              <a:rPr lang="en-US" altLang="zh-TW" dirty="0" smtClean="0"/>
              <a:t>“!Analyze -v”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7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DumpConfiguration</a:t>
            </a:r>
            <a:r>
              <a:rPr lang="en-US" altLang="zh-TW" dirty="0" smtClean="0"/>
              <a:t> Tool</a:t>
            </a:r>
          </a:p>
          <a:p>
            <a:pPr lvl="1"/>
            <a:r>
              <a:rPr lang="en-US" altLang="zh-TW" u="sng" dirty="0">
                <a:hlinkClick r:id="rId3"/>
              </a:rPr>
              <a:t>http://ishare.trendmicro.com/enggroup/ConPDG/ThinClient/Titanium%203.0/Shared%20Documents/Dev/!Getting%20Start/DumpAnalyze/WinPlatTools-14600.rar</a:t>
            </a:r>
            <a:endParaRPr lang="zh-TW" altLang="zh-TW" dirty="0"/>
          </a:p>
          <a:p>
            <a:r>
              <a:rPr lang="en-US" altLang="zh-TW" dirty="0" smtClean="0"/>
              <a:t>Not My Fault</a:t>
            </a:r>
          </a:p>
          <a:p>
            <a:pPr lvl="1"/>
            <a:r>
              <a:rPr lang="en-US" altLang="zh-TW" u="sng" dirty="0">
                <a:hlinkClick r:id="rId4"/>
              </a:rPr>
              <a:t>http://ishare.trendmicro.com/enggroup/ConPDG/ThinClient/Titanium%203.0/Shared%20Documents/Dev/!Getting%20Start/DumpAnalyze/Notmyfault.zip</a:t>
            </a:r>
            <a:endParaRPr lang="zh-TW" altLang="zh-TW" dirty="0"/>
          </a:p>
          <a:p>
            <a:r>
              <a:rPr lang="en-US" altLang="zh-TW" dirty="0" smtClean="0"/>
              <a:t>Dump Training - AD1024</a:t>
            </a:r>
          </a:p>
          <a:p>
            <a:pPr lvl="1"/>
            <a:r>
              <a:rPr lang="en-US" altLang="zh-TW" u="sng" dirty="0">
                <a:hlinkClick r:id="rId5"/>
              </a:rPr>
              <a:t>http://ishare.trendmicro.com/enggroup/ConPDG/ThinClient/Titanium%203.0/Shared%20Documents/Dev/!Getting%20Start/DumpAnalyze/AD1024%20Slide.rar</a:t>
            </a:r>
            <a:endParaRPr lang="zh-TW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Classification </a:t>
            </a:r>
            <a:fld id="{86B10AB7-D2F0-4745-8CD4-1871C4A0EE30}" type="datetime1">
              <a:rPr lang="en-US" altLang="zh-CN" smtClean="0"/>
              <a:pPr>
                <a:defRPr/>
              </a:pPr>
              <a:t>11/22/2020</a:t>
            </a:fld>
            <a:endParaRPr lang="en-US" altLang="zh-C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8515B1-980D-4B26-B6C2-800CB409122D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0548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zh-CN" sz="600" b="0"/>
              <a:t>Classification </a:t>
            </a:r>
            <a:fld id="{7CC83FA0-AF26-4166-ADA5-F8E4B2FD8478}" type="datetime1">
              <a:rPr lang="en-US" altLang="zh-CN" sz="600" b="0"/>
              <a:pPr eaLnBrk="1" hangingPunct="1"/>
              <a:t>11/22/2020</a:t>
            </a:fld>
            <a:endParaRPr lang="en-US" altLang="zh-CN" sz="600" b="0"/>
          </a:p>
        </p:txBody>
      </p:sp>
      <p:sp>
        <p:nvSpPr>
          <p:cNvPr id="34819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7CA39D4-E0D9-42A8-93AE-9FD7CF9BEA7E}" type="slidenum">
              <a:rPr lang="en-US" altLang="zh-CN" sz="600" b="0"/>
              <a:pPr eaLnBrk="1" hangingPunct="1"/>
              <a:t>39</a:t>
            </a:fld>
            <a:endParaRPr lang="en-US" altLang="zh-CN" sz="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RP_PPT_Template_9_09">
  <a:themeElements>
    <a:clrScheme name="TM_Corporate_Template 1">
      <a:dk1>
        <a:srgbClr val="58595B"/>
      </a:dk1>
      <a:lt1>
        <a:srgbClr val="FFFFFF"/>
      </a:lt1>
      <a:dk2>
        <a:srgbClr val="CC0000"/>
      </a:dk2>
      <a:lt2>
        <a:srgbClr val="7B7C7F"/>
      </a:lt2>
      <a:accent1>
        <a:srgbClr val="5091CD"/>
      </a:accent1>
      <a:accent2>
        <a:srgbClr val="E8AE4A"/>
      </a:accent2>
      <a:accent3>
        <a:srgbClr val="FFFFFF"/>
      </a:accent3>
      <a:accent4>
        <a:srgbClr val="4A4B4C"/>
      </a:accent4>
      <a:accent5>
        <a:srgbClr val="B3C7E3"/>
      </a:accent5>
      <a:accent6>
        <a:srgbClr val="D29D42"/>
      </a:accent6>
      <a:hlink>
        <a:srgbClr val="FF0000"/>
      </a:hlink>
      <a:folHlink>
        <a:srgbClr val="96005B"/>
      </a:folHlink>
    </a:clrScheme>
    <a:fontScheme name="TM_Corporate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M_Corporate_Template 1">
        <a:dk1>
          <a:srgbClr val="58595B"/>
        </a:dk1>
        <a:lt1>
          <a:srgbClr val="FFFFFF"/>
        </a:lt1>
        <a:dk2>
          <a:srgbClr val="CC0000"/>
        </a:dk2>
        <a:lt2>
          <a:srgbClr val="7B7C7F"/>
        </a:lt2>
        <a:accent1>
          <a:srgbClr val="5091CD"/>
        </a:accent1>
        <a:accent2>
          <a:srgbClr val="E8AE4A"/>
        </a:accent2>
        <a:accent3>
          <a:srgbClr val="FFFFFF"/>
        </a:accent3>
        <a:accent4>
          <a:srgbClr val="4A4B4C"/>
        </a:accent4>
        <a:accent5>
          <a:srgbClr val="B3C7E3"/>
        </a:accent5>
        <a:accent6>
          <a:srgbClr val="D29D42"/>
        </a:accent6>
        <a:hlink>
          <a:srgbClr val="FF0000"/>
        </a:hlink>
        <a:folHlink>
          <a:srgbClr val="9600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58595B"/>
      </a:dk1>
      <a:lt1>
        <a:srgbClr val="FFFFFF"/>
      </a:lt1>
      <a:dk2>
        <a:srgbClr val="CC0000"/>
      </a:dk2>
      <a:lt2>
        <a:srgbClr val="7B7C7F"/>
      </a:lt2>
      <a:accent1>
        <a:srgbClr val="5091CD"/>
      </a:accent1>
      <a:accent2>
        <a:srgbClr val="E8AE4A"/>
      </a:accent2>
      <a:accent3>
        <a:srgbClr val="FFFFFF"/>
      </a:accent3>
      <a:accent4>
        <a:srgbClr val="4A4B4C"/>
      </a:accent4>
      <a:accent5>
        <a:srgbClr val="B3C7E3"/>
      </a:accent5>
      <a:accent6>
        <a:srgbClr val="D29D42"/>
      </a:accent6>
      <a:hlink>
        <a:srgbClr val="FF0000"/>
      </a:hlink>
      <a:folHlink>
        <a:srgbClr val="96005B"/>
      </a:folHlink>
    </a:clrScheme>
    <a:fontScheme name="1_Custom 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Custom Design 1">
        <a:dk1>
          <a:srgbClr val="58595B"/>
        </a:dk1>
        <a:lt1>
          <a:srgbClr val="FFFFFF"/>
        </a:lt1>
        <a:dk2>
          <a:srgbClr val="CC0000"/>
        </a:dk2>
        <a:lt2>
          <a:srgbClr val="7B7C7F"/>
        </a:lt2>
        <a:accent1>
          <a:srgbClr val="5091CD"/>
        </a:accent1>
        <a:accent2>
          <a:srgbClr val="E8AE4A"/>
        </a:accent2>
        <a:accent3>
          <a:srgbClr val="FFFFFF"/>
        </a:accent3>
        <a:accent4>
          <a:srgbClr val="4A4B4C"/>
        </a:accent4>
        <a:accent5>
          <a:srgbClr val="B3C7E3"/>
        </a:accent5>
        <a:accent6>
          <a:srgbClr val="D29D42"/>
        </a:accent6>
        <a:hlink>
          <a:srgbClr val="FF0000"/>
        </a:hlink>
        <a:folHlink>
          <a:srgbClr val="9600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58595B"/>
      </a:dk1>
      <a:lt1>
        <a:srgbClr val="FFFFFF"/>
      </a:lt1>
      <a:dk2>
        <a:srgbClr val="CC0000"/>
      </a:dk2>
      <a:lt2>
        <a:srgbClr val="7B7C7F"/>
      </a:lt2>
      <a:accent1>
        <a:srgbClr val="5091CD"/>
      </a:accent1>
      <a:accent2>
        <a:srgbClr val="E8AE4A"/>
      </a:accent2>
      <a:accent3>
        <a:srgbClr val="FFFFFF"/>
      </a:accent3>
      <a:accent4>
        <a:srgbClr val="4A4B4C"/>
      </a:accent4>
      <a:accent5>
        <a:srgbClr val="B3C7E3"/>
      </a:accent5>
      <a:accent6>
        <a:srgbClr val="D29D42"/>
      </a:accent6>
      <a:hlink>
        <a:srgbClr val="FF0000"/>
      </a:hlink>
      <a:folHlink>
        <a:srgbClr val="96005B"/>
      </a:folHlink>
    </a:clrScheme>
    <a:fontScheme name="2_Custom 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Custom Design 1">
        <a:dk1>
          <a:srgbClr val="58595B"/>
        </a:dk1>
        <a:lt1>
          <a:srgbClr val="FFFFFF"/>
        </a:lt1>
        <a:dk2>
          <a:srgbClr val="CC0000"/>
        </a:dk2>
        <a:lt2>
          <a:srgbClr val="7B7C7F"/>
        </a:lt2>
        <a:accent1>
          <a:srgbClr val="5091CD"/>
        </a:accent1>
        <a:accent2>
          <a:srgbClr val="E8AE4A"/>
        </a:accent2>
        <a:accent3>
          <a:srgbClr val="FFFFFF"/>
        </a:accent3>
        <a:accent4>
          <a:srgbClr val="4A4B4C"/>
        </a:accent4>
        <a:accent5>
          <a:srgbClr val="B3C7E3"/>
        </a:accent5>
        <a:accent6>
          <a:srgbClr val="D29D42"/>
        </a:accent6>
        <a:hlink>
          <a:srgbClr val="FF0000"/>
        </a:hlink>
        <a:folHlink>
          <a:srgbClr val="9600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TM_Corporate_Template">
  <a:themeElements>
    <a:clrScheme name="1_TM_Corporate_Template 1">
      <a:dk1>
        <a:srgbClr val="58595B"/>
      </a:dk1>
      <a:lt1>
        <a:srgbClr val="FFFFFF"/>
      </a:lt1>
      <a:dk2>
        <a:srgbClr val="CC0000"/>
      </a:dk2>
      <a:lt2>
        <a:srgbClr val="7B7C7F"/>
      </a:lt2>
      <a:accent1>
        <a:srgbClr val="5091CD"/>
      </a:accent1>
      <a:accent2>
        <a:srgbClr val="E8AE4A"/>
      </a:accent2>
      <a:accent3>
        <a:srgbClr val="FFFFFF"/>
      </a:accent3>
      <a:accent4>
        <a:srgbClr val="4A4B4C"/>
      </a:accent4>
      <a:accent5>
        <a:srgbClr val="B3C7E3"/>
      </a:accent5>
      <a:accent6>
        <a:srgbClr val="D29D42"/>
      </a:accent6>
      <a:hlink>
        <a:srgbClr val="FF0000"/>
      </a:hlink>
      <a:folHlink>
        <a:srgbClr val="96005B"/>
      </a:folHlink>
    </a:clrScheme>
    <a:fontScheme name="1_TM_Corporate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1_TM_Corporate_Template 1">
        <a:dk1>
          <a:srgbClr val="58595B"/>
        </a:dk1>
        <a:lt1>
          <a:srgbClr val="FFFFFF"/>
        </a:lt1>
        <a:dk2>
          <a:srgbClr val="CC0000"/>
        </a:dk2>
        <a:lt2>
          <a:srgbClr val="7B7C7F"/>
        </a:lt2>
        <a:accent1>
          <a:srgbClr val="5091CD"/>
        </a:accent1>
        <a:accent2>
          <a:srgbClr val="E8AE4A"/>
        </a:accent2>
        <a:accent3>
          <a:srgbClr val="FFFFFF"/>
        </a:accent3>
        <a:accent4>
          <a:srgbClr val="4A4B4C"/>
        </a:accent4>
        <a:accent5>
          <a:srgbClr val="B3C7E3"/>
        </a:accent5>
        <a:accent6>
          <a:srgbClr val="D29D42"/>
        </a:accent6>
        <a:hlink>
          <a:srgbClr val="FF0000"/>
        </a:hlink>
        <a:folHlink>
          <a:srgbClr val="9600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TM_Corporate_Template">
  <a:themeElements>
    <a:clrScheme name="2_TM_Corporate_Template 1">
      <a:dk1>
        <a:srgbClr val="58595B"/>
      </a:dk1>
      <a:lt1>
        <a:srgbClr val="FFFFFF"/>
      </a:lt1>
      <a:dk2>
        <a:srgbClr val="CC0000"/>
      </a:dk2>
      <a:lt2>
        <a:srgbClr val="7B7C7F"/>
      </a:lt2>
      <a:accent1>
        <a:srgbClr val="5091CD"/>
      </a:accent1>
      <a:accent2>
        <a:srgbClr val="E8AE4A"/>
      </a:accent2>
      <a:accent3>
        <a:srgbClr val="FFFFFF"/>
      </a:accent3>
      <a:accent4>
        <a:srgbClr val="4A4B4C"/>
      </a:accent4>
      <a:accent5>
        <a:srgbClr val="B3C7E3"/>
      </a:accent5>
      <a:accent6>
        <a:srgbClr val="D29D42"/>
      </a:accent6>
      <a:hlink>
        <a:srgbClr val="FF0000"/>
      </a:hlink>
      <a:folHlink>
        <a:srgbClr val="96005B"/>
      </a:folHlink>
    </a:clrScheme>
    <a:fontScheme name="2_TM_Corporate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2_TM_Corporate_Template 1">
        <a:dk1>
          <a:srgbClr val="58595B"/>
        </a:dk1>
        <a:lt1>
          <a:srgbClr val="FFFFFF"/>
        </a:lt1>
        <a:dk2>
          <a:srgbClr val="CC0000"/>
        </a:dk2>
        <a:lt2>
          <a:srgbClr val="7B7C7F"/>
        </a:lt2>
        <a:accent1>
          <a:srgbClr val="5091CD"/>
        </a:accent1>
        <a:accent2>
          <a:srgbClr val="E8AE4A"/>
        </a:accent2>
        <a:accent3>
          <a:srgbClr val="FFFFFF"/>
        </a:accent3>
        <a:accent4>
          <a:srgbClr val="4A4B4C"/>
        </a:accent4>
        <a:accent5>
          <a:srgbClr val="B3C7E3"/>
        </a:accent5>
        <a:accent6>
          <a:srgbClr val="D29D42"/>
        </a:accent6>
        <a:hlink>
          <a:srgbClr val="FF0000"/>
        </a:hlink>
        <a:folHlink>
          <a:srgbClr val="9600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TM_Corporate_Template">
  <a:themeElements>
    <a:clrScheme name="3_TM_Corporate_Template 1">
      <a:dk1>
        <a:srgbClr val="58595B"/>
      </a:dk1>
      <a:lt1>
        <a:srgbClr val="FFFFFF"/>
      </a:lt1>
      <a:dk2>
        <a:srgbClr val="CC0000"/>
      </a:dk2>
      <a:lt2>
        <a:srgbClr val="7B7C7F"/>
      </a:lt2>
      <a:accent1>
        <a:srgbClr val="5091CD"/>
      </a:accent1>
      <a:accent2>
        <a:srgbClr val="E8AE4A"/>
      </a:accent2>
      <a:accent3>
        <a:srgbClr val="FFFFFF"/>
      </a:accent3>
      <a:accent4>
        <a:srgbClr val="4A4B4C"/>
      </a:accent4>
      <a:accent5>
        <a:srgbClr val="B3C7E3"/>
      </a:accent5>
      <a:accent6>
        <a:srgbClr val="D29D42"/>
      </a:accent6>
      <a:hlink>
        <a:srgbClr val="FF0000"/>
      </a:hlink>
      <a:folHlink>
        <a:srgbClr val="96005B"/>
      </a:folHlink>
    </a:clrScheme>
    <a:fontScheme name="3_TM_Corporate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3_TM_Corporate_Template 1">
        <a:dk1>
          <a:srgbClr val="58595B"/>
        </a:dk1>
        <a:lt1>
          <a:srgbClr val="FFFFFF"/>
        </a:lt1>
        <a:dk2>
          <a:srgbClr val="CC0000"/>
        </a:dk2>
        <a:lt2>
          <a:srgbClr val="7B7C7F"/>
        </a:lt2>
        <a:accent1>
          <a:srgbClr val="5091CD"/>
        </a:accent1>
        <a:accent2>
          <a:srgbClr val="E8AE4A"/>
        </a:accent2>
        <a:accent3>
          <a:srgbClr val="FFFFFF"/>
        </a:accent3>
        <a:accent4>
          <a:srgbClr val="4A4B4C"/>
        </a:accent4>
        <a:accent5>
          <a:srgbClr val="B3C7E3"/>
        </a:accent5>
        <a:accent6>
          <a:srgbClr val="D29D42"/>
        </a:accent6>
        <a:hlink>
          <a:srgbClr val="FF0000"/>
        </a:hlink>
        <a:folHlink>
          <a:srgbClr val="9600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F5F5F"/>
    </a:dk1>
    <a:lt1>
      <a:srgbClr val="FFFFFF"/>
    </a:lt1>
    <a:dk2>
      <a:srgbClr val="CC0000"/>
    </a:dk2>
    <a:lt2>
      <a:srgbClr val="808080"/>
    </a:lt2>
    <a:accent1>
      <a:srgbClr val="5786BC"/>
    </a:accent1>
    <a:accent2>
      <a:srgbClr val="FF0000"/>
    </a:accent2>
    <a:accent3>
      <a:srgbClr val="FFFFFF"/>
    </a:accent3>
    <a:accent4>
      <a:srgbClr val="505050"/>
    </a:accent4>
    <a:accent5>
      <a:srgbClr val="B4C3DA"/>
    </a:accent5>
    <a:accent6>
      <a:srgbClr val="E70000"/>
    </a:accent6>
    <a:hlink>
      <a:srgbClr val="CC0000"/>
    </a:hlink>
    <a:folHlink>
      <a:srgbClr val="8FC4EE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5F5F5F"/>
    </a:dk1>
    <a:lt1>
      <a:srgbClr val="FFFFFF"/>
    </a:lt1>
    <a:dk2>
      <a:srgbClr val="CC0000"/>
    </a:dk2>
    <a:lt2>
      <a:srgbClr val="808080"/>
    </a:lt2>
    <a:accent1>
      <a:srgbClr val="5786BC"/>
    </a:accent1>
    <a:accent2>
      <a:srgbClr val="FF0000"/>
    </a:accent2>
    <a:accent3>
      <a:srgbClr val="FFFFFF"/>
    </a:accent3>
    <a:accent4>
      <a:srgbClr val="505050"/>
    </a:accent4>
    <a:accent5>
      <a:srgbClr val="B4C3DA"/>
    </a:accent5>
    <a:accent6>
      <a:srgbClr val="E70000"/>
    </a:accent6>
    <a:hlink>
      <a:srgbClr val="CC0000"/>
    </a:hlink>
    <a:folHlink>
      <a:srgbClr val="8FC4EE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5F5F5F"/>
    </a:dk1>
    <a:lt1>
      <a:srgbClr val="FFFFFF"/>
    </a:lt1>
    <a:dk2>
      <a:srgbClr val="CC0000"/>
    </a:dk2>
    <a:lt2>
      <a:srgbClr val="808080"/>
    </a:lt2>
    <a:accent1>
      <a:srgbClr val="5786BC"/>
    </a:accent1>
    <a:accent2>
      <a:srgbClr val="FF0000"/>
    </a:accent2>
    <a:accent3>
      <a:srgbClr val="FFFFFF"/>
    </a:accent3>
    <a:accent4>
      <a:srgbClr val="505050"/>
    </a:accent4>
    <a:accent5>
      <a:srgbClr val="B4C3DA"/>
    </a:accent5>
    <a:accent6>
      <a:srgbClr val="E70000"/>
    </a:accent6>
    <a:hlink>
      <a:srgbClr val="CC0000"/>
    </a:hlink>
    <a:folHlink>
      <a:srgbClr val="8FC4EE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5F5F5F"/>
    </a:dk1>
    <a:lt1>
      <a:srgbClr val="FFFFFF"/>
    </a:lt1>
    <a:dk2>
      <a:srgbClr val="CC0000"/>
    </a:dk2>
    <a:lt2>
      <a:srgbClr val="808080"/>
    </a:lt2>
    <a:accent1>
      <a:srgbClr val="5786BC"/>
    </a:accent1>
    <a:accent2>
      <a:srgbClr val="FF0000"/>
    </a:accent2>
    <a:accent3>
      <a:srgbClr val="FFFFFF"/>
    </a:accent3>
    <a:accent4>
      <a:srgbClr val="505050"/>
    </a:accent4>
    <a:accent5>
      <a:srgbClr val="B4C3DA"/>
    </a:accent5>
    <a:accent6>
      <a:srgbClr val="E70000"/>
    </a:accent6>
    <a:hlink>
      <a:srgbClr val="CC0000"/>
    </a:hlink>
    <a:folHlink>
      <a:srgbClr val="8FC4EE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7DFDFAE432AD449A3789CC3479F2C0" ma:contentTypeVersion="0" ma:contentTypeDescription="Create a new document." ma:contentTypeScope="" ma:versionID="a88ebbe210585bc7abd20e4bee29773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8b84a669393b0a1891e1b88bafe54f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F7D1E7-1BCC-452F-9B35-3731B099F9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D55D07-934D-457B-8A7A-27B998210BC6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B126F0A-0965-4437-B3B1-EB94DD837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CORP_PPT_Template_9_09</Template>
  <TotalTime>1220</TotalTime>
  <Words>2169</Words>
  <Application>Microsoft Office PowerPoint</Application>
  <PresentationFormat>全屏显示(4:3)</PresentationFormat>
  <Paragraphs>521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39</vt:i4>
      </vt:variant>
    </vt:vector>
  </HeadingPairs>
  <TitlesOfParts>
    <vt:vector size="52" baseType="lpstr">
      <vt:lpstr>MS PGothic</vt:lpstr>
      <vt:lpstr>新細明體</vt:lpstr>
      <vt:lpstr>宋体</vt:lpstr>
      <vt:lpstr>Arial</vt:lpstr>
      <vt:lpstr>Calibri</vt:lpstr>
      <vt:lpstr>Courier New</vt:lpstr>
      <vt:lpstr>Wingdings</vt:lpstr>
      <vt:lpstr>CORP_PPT_Template_9_09</vt:lpstr>
      <vt:lpstr>1_Custom Design</vt:lpstr>
      <vt:lpstr>2_Custom Design</vt:lpstr>
      <vt:lpstr>1_TM_Corporate_Template</vt:lpstr>
      <vt:lpstr>2_TM_Corporate_Template</vt:lpstr>
      <vt:lpstr>3_TM_Corporate_Template</vt:lpstr>
      <vt:lpstr>Dump Analysis &amp; Tips</vt:lpstr>
      <vt:lpstr>Outline</vt:lpstr>
      <vt:lpstr>Windows Memory Layout</vt:lpstr>
      <vt:lpstr>Different Dump Types</vt:lpstr>
      <vt:lpstr>Different Dump Types</vt:lpstr>
      <vt:lpstr>Different Dump Types</vt:lpstr>
      <vt:lpstr>Different Dump Types</vt:lpstr>
      <vt:lpstr>Common Dump Types</vt:lpstr>
      <vt:lpstr>Tips for Mini/Full Dump</vt:lpstr>
      <vt:lpstr>Tips for AMSP Mini/Full Dump</vt:lpstr>
      <vt:lpstr>Tips for Memory Dump</vt:lpstr>
      <vt:lpstr>Tips for Memory Dump</vt:lpstr>
      <vt:lpstr>Debug Symbol</vt:lpstr>
      <vt:lpstr> Symbol</vt:lpstr>
      <vt:lpstr>Symbol</vt:lpstr>
      <vt:lpstr>How to Setup Symbol &amp; Image Path</vt:lpstr>
      <vt:lpstr>Tips for Symbol Path</vt:lpstr>
      <vt:lpstr>Tip for Reload Symbol</vt:lpstr>
      <vt:lpstr>Tips for Check Binary Version</vt:lpstr>
      <vt:lpstr>Call Stack</vt:lpstr>
      <vt:lpstr>Call Stack</vt:lpstr>
      <vt:lpstr>How to Watch Call Stack for A Thread</vt:lpstr>
      <vt:lpstr>How to Watch All Call Stacks</vt:lpstr>
      <vt:lpstr>How to Watch Call Stack in Memory Dump</vt:lpstr>
      <vt:lpstr>More on Call Stack</vt:lpstr>
      <vt:lpstr>!Analyze -v</vt:lpstr>
      <vt:lpstr>A Result from !Anayze –v</vt:lpstr>
      <vt:lpstr>A Result from !Anayze –v</vt:lpstr>
      <vt:lpstr>Something Before Analysis</vt:lpstr>
      <vt:lpstr>How to Read Analysis Report</vt:lpstr>
      <vt:lpstr>How to Read Analysis Report</vt:lpstr>
      <vt:lpstr>How to Read Analysis Report</vt:lpstr>
      <vt:lpstr>How to Enable Page Heap and App Verifier</vt:lpstr>
      <vt:lpstr>How to Read Analysis Report</vt:lpstr>
      <vt:lpstr>Tips for WinDbg</vt:lpstr>
      <vt:lpstr>Tips for WinDbg</vt:lpstr>
      <vt:lpstr>Summary</vt:lpstr>
      <vt:lpstr>Reference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Dump Analysis: Tips</dc:title>
  <dc:creator>Sean Yen (RD-TW)</dc:creator>
  <cp:lastModifiedBy>Yu Liang</cp:lastModifiedBy>
  <cp:revision>30</cp:revision>
  <dcterms:created xsi:type="dcterms:W3CDTF">2011-09-18T11:28:51Z</dcterms:created>
  <dcterms:modified xsi:type="dcterms:W3CDTF">2020-11-22T17:18:17Z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0x010100B47DFDFAE432AD449A3789CC3479F2C0</vt:lpwstr>
  </property>
</Properties>
</file>